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2" r:id="rId5"/>
    <p:sldId id="295" r:id="rId6"/>
    <p:sldId id="293" r:id="rId7"/>
    <p:sldId id="303" r:id="rId8"/>
    <p:sldId id="297" r:id="rId9"/>
    <p:sldId id="296" r:id="rId10"/>
    <p:sldId id="294" r:id="rId11"/>
    <p:sldId id="298" r:id="rId12"/>
    <p:sldId id="300" r:id="rId13"/>
    <p:sldId id="302" r:id="rId14"/>
    <p:sldId id="304" r:id="rId15"/>
    <p:sldId id="30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73" autoAdjust="0"/>
  </p:normalViewPr>
  <p:slideViewPr>
    <p:cSldViewPr snapToGrid="0">
      <p:cViewPr varScale="1">
        <p:scale>
          <a:sx n="108" d="100"/>
          <a:sy n="108" d="100"/>
        </p:scale>
        <p:origin x="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E2AD-022B-422E-7B63-1AE169993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8CC2A-35B4-A2C4-E88F-28A3BF4CA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4FB5E-E069-9AC0-8529-9EEE0593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32F0D-8AA3-5950-5BB8-B09AC623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B8917-513F-3135-21A5-F9C68563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3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7AE3-26D0-4C98-C3BF-26813E01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98A9C-67A3-EA62-3A18-59542C232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538EA-38E5-0CAE-15F3-E4E04F2D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2F134-95A1-E912-DA5E-923AD5A7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2C1C5-BED6-A4C1-F21B-AD09E22A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1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189A-AA8B-B3E6-993C-FF3827AE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46950-2A24-6191-5BC0-CFD3B504F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9F68D-EBA1-6840-1107-4944F16B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8A1BC-7DD8-BED4-0C55-90FCA4BB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8E451-41ED-1AD9-C7DC-BF2A240E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2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073BD-8DE8-80E0-2F76-6E1B0BE2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7F90A-40AD-A4FC-7EFC-C1AAD7730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86079-F842-E1A5-1807-280E7991B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FBCB8-7832-B8E2-6014-0FEC5AEE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02448-18AD-425D-3AFA-CBFA580A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00C41-A1BF-9BC4-6226-849FA3E5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4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89AD-1C71-6647-561D-5406E167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8CA12-D9E4-ED22-23D5-A9DC24E7B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DF421-4C97-3199-2D79-1E2CC42AC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412464-986E-D8D6-1CB5-D9CDB92A3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48D93-92C0-D3B7-32BA-15ECC508C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48751-1CFE-86A6-C314-996B790F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94D0D-038F-BC37-C032-C06E10BD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4F659-FCE3-1980-C1DC-4E2CE6A2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44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C00C-C3F2-9CDE-7573-559D265A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7C6D4-9868-0158-E7E4-C7132AF0B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7AE45-AF90-8623-18BC-788E82BF6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6A6E8-CAAE-E05C-E5A4-B3724BA9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5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BD36B-C75D-B239-F430-3B3A34DDA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0B521D-A4FF-3797-400E-838A5A72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BB37C-7703-9A28-D37A-C4C665AD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4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9996-2E9D-9E59-1240-08C5781F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FA37-2405-5E57-6F36-51066FE4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5A6F8-D8FE-4164-238A-DFE1E642A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E1D61-424A-A141-2065-88933423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307AA-40B3-6054-7FE0-BCB5CC0A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683BD-9BCC-D940-0C86-563047C6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3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0074-49F1-EB7C-DBEC-E0BE0F67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5648B-8599-DF84-BEA9-E2127483E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AE41D-276F-7E5D-838B-D51C47D4C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4AB47-FA38-CA7A-D59B-28539F40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0DC7-DE2B-C9AA-69D5-3644316D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A9C48-4CDD-2F32-77C6-CC1F7090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4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DF45-09F0-C2D9-26CA-B8C24CCD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171D7-F14B-EA8F-BC60-3A424EF26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4871A-9331-36F6-9A1E-CAAED851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F19B4-C132-4013-3F21-0E1E7A7F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00EFD-720D-C8DF-3CF8-BEE42A7C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26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B296D-D6B1-126B-45E8-7C260EBC2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37111-A42F-FD9F-6C85-443793990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F6830-48CC-1E94-878A-CF3E3D18A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EDA1A-C19F-5032-54B1-02E6B875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708CB-B230-1EA3-67CE-296132B3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69710-F1CF-02E0-8959-4353D4F72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0C775-D293-F244-0DBF-B527ACED8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992D6-E1A6-1A39-BA08-4AF22B13D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BEC60-4EAF-4DF1-ACCA-BE131AD03C6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7766B-5A8B-09E6-308D-55EAEEA8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6677E-74C4-B1AA-99E6-D03DF6296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E81A0-D8B4-4BE0-BD2C-22C31DC3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6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hyperlink" Target="https://www.kaggle.com/datasets/jessemostipak/hotel-booking-demand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3.jpe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A6FF-A477-F5D3-EF88-B77AFDF0F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517" y="1461871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b="1" dirty="0"/>
              <a:t>ỨNG DỤNG CÁC KỸ THUẬT KHAI PHÁ DỮ LIỆU CHO BỘ DỮ LIỆU ĐẶT PHÒNG KHÁCH SẠN (HOTEL BOOKING DEMAND</a:t>
            </a:r>
            <a:r>
              <a:rPr lang="en-US" sz="4800" b="1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D672F-9087-6FD5-449B-7E26B492E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517" y="4011608"/>
            <a:ext cx="9144000" cy="1655762"/>
          </a:xfrm>
        </p:spPr>
        <p:txBody>
          <a:bodyPr/>
          <a:lstStyle/>
          <a:p>
            <a:r>
              <a:rPr lang="en-US" dirty="0"/>
              <a:t>SINH VIÊN THỰC HIỆN:</a:t>
            </a:r>
          </a:p>
          <a:p>
            <a:r>
              <a:rPr lang="en-US" dirty="0"/>
              <a:t>GIẢNG VIÊN HƯỚNG DẪN: TS.ĐỖ NHƯ TÀI</a:t>
            </a:r>
          </a:p>
          <a:p>
            <a:r>
              <a:rPr lang="en-US" dirty="0" err="1"/>
              <a:t>Bộ</a:t>
            </a:r>
            <a:r>
              <a:rPr lang="en-US" dirty="0"/>
              <a:t> Môn: Khai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Liệu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ABCE1-2E21-BC1A-14C2-41A215E40A44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GU-LOGO – Trung tâm Ngoại ngữ – Tin học Trường Đại học Sài Gòn">
            <a:extLst>
              <a:ext uri="{FF2B5EF4-FFF2-40B4-BE49-F238E27FC236}">
                <a16:creationId xmlns:a16="http://schemas.microsoft.com/office/drawing/2014/main" id="{EFEAA545-8962-958D-C5F1-EF0DD0552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05" y="292823"/>
            <a:ext cx="1304024" cy="130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E31B4A6-9E8A-C186-5E96-B6A85CC47A00}"/>
              </a:ext>
            </a:extLst>
          </p:cNvPr>
          <p:cNvSpPr txBox="1">
            <a:spLocks/>
          </p:cNvSpPr>
          <p:nvPr/>
        </p:nvSpPr>
        <p:spPr>
          <a:xfrm>
            <a:off x="219977" y="-108786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/>
              <a:t>TRƯỜNG ĐẠI HỌC SÀI GÒN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068AE-BF2A-4B86-BF60-8097054BAA5D}"/>
              </a:ext>
            </a:extLst>
          </p:cNvPr>
          <p:cNvSpPr txBox="1"/>
          <p:nvPr/>
        </p:nvSpPr>
        <p:spPr>
          <a:xfrm>
            <a:off x="5262113" y="6363361"/>
            <a:ext cx="4433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26/12/2025</a:t>
            </a:r>
          </a:p>
        </p:txBody>
      </p:sp>
    </p:spTree>
    <p:extLst>
      <p:ext uri="{BB962C8B-B14F-4D97-AF65-F5344CB8AC3E}">
        <p14:creationId xmlns:p14="http://schemas.microsoft.com/office/powerpoint/2010/main" val="269571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DA6F-EA90-EC24-9947-A0E6E200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96" y="39100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NỘI DUNG TRÌNH BÀY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D022-7526-EC92-71D1-DE8A2BA1A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234" y="1716567"/>
            <a:ext cx="98367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1.   </a:t>
            </a:r>
            <a:r>
              <a:rPr lang="en-US" sz="2200" dirty="0" err="1"/>
              <a:t>Vấn</a:t>
            </a:r>
            <a:r>
              <a:rPr lang="en-US" sz="2200" dirty="0"/>
              <a:t> </a:t>
            </a:r>
            <a:r>
              <a:rPr lang="en-US" sz="2200" dirty="0" err="1"/>
              <a:t>đề</a:t>
            </a:r>
            <a:r>
              <a:rPr lang="en-US" sz="2200" dirty="0"/>
              <a:t> &amp; </a:t>
            </a:r>
            <a:r>
              <a:rPr lang="en-US" sz="2200" dirty="0" err="1"/>
              <a:t>Mục</a:t>
            </a:r>
            <a:r>
              <a:rPr lang="en-US" sz="2200" dirty="0"/>
              <a:t> </a:t>
            </a:r>
            <a:r>
              <a:rPr lang="en-US" sz="2200" dirty="0" err="1"/>
              <a:t>tiêu</a:t>
            </a:r>
            <a:endParaRPr lang="en-US" sz="2200" dirty="0"/>
          </a:p>
          <a:p>
            <a:pPr marL="457200" indent="-457200">
              <a:buAutoNum type="arabicPeriod" startAt="2"/>
            </a:pPr>
            <a:r>
              <a:rPr lang="en-US" sz="2200" dirty="0" err="1"/>
              <a:t>Dữ</a:t>
            </a:r>
            <a:r>
              <a:rPr lang="en-US" sz="2200" dirty="0"/>
              <a:t> </a:t>
            </a:r>
            <a:r>
              <a:rPr lang="en-US" sz="2200" dirty="0" err="1"/>
              <a:t>liệu</a:t>
            </a:r>
            <a:r>
              <a:rPr lang="en-US" sz="2200" dirty="0"/>
              <a:t> &amp; Khai </a:t>
            </a:r>
            <a:r>
              <a:rPr lang="en-US" sz="2200" dirty="0" err="1"/>
              <a:t>phá</a:t>
            </a:r>
            <a:r>
              <a:rPr lang="en-US" sz="2200" dirty="0"/>
              <a:t> ban </a:t>
            </a:r>
            <a:r>
              <a:rPr lang="en-US" sz="2200" dirty="0" err="1"/>
              <a:t>đầu</a:t>
            </a:r>
            <a:r>
              <a:rPr lang="en-US" sz="2200" dirty="0"/>
              <a:t> (EDA)</a:t>
            </a:r>
          </a:p>
          <a:p>
            <a:pPr marL="457200" indent="-457200">
              <a:buAutoNum type="arabicPeriod" startAt="2"/>
            </a:pP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đoán</a:t>
            </a:r>
            <a:r>
              <a:rPr lang="en-US" sz="2200" dirty="0"/>
              <a:t> – </a:t>
            </a:r>
            <a:r>
              <a:rPr lang="en-US" sz="2200" dirty="0" err="1"/>
              <a:t>Phân</a:t>
            </a:r>
            <a:r>
              <a:rPr lang="en-US" sz="2200" dirty="0"/>
              <a:t> </a:t>
            </a:r>
            <a:r>
              <a:rPr lang="en-US" sz="2200" dirty="0" err="1"/>
              <a:t>loại</a:t>
            </a:r>
            <a:r>
              <a:rPr lang="en-US" sz="2200" dirty="0"/>
              <a:t> (Classification)</a:t>
            </a:r>
          </a:p>
          <a:p>
            <a:pPr marL="457200" indent="-457200">
              <a:buAutoNum type="arabicPeriod" startAt="2"/>
            </a:pPr>
            <a:r>
              <a:rPr lang="en-US" sz="2200" dirty="0" err="1"/>
              <a:t>Hiểu</a:t>
            </a:r>
            <a:r>
              <a:rPr lang="en-US" sz="2200" dirty="0"/>
              <a:t> </a:t>
            </a:r>
            <a:r>
              <a:rPr lang="en-US" sz="2200" dirty="0" err="1"/>
              <a:t>khách</a:t>
            </a:r>
            <a:r>
              <a:rPr lang="en-US" sz="2200" dirty="0"/>
              <a:t> </a:t>
            </a:r>
            <a:r>
              <a:rPr lang="en-US" sz="2200" dirty="0" err="1"/>
              <a:t>hàng</a:t>
            </a:r>
            <a:r>
              <a:rPr lang="en-US" sz="2200" dirty="0"/>
              <a:t> – </a:t>
            </a:r>
            <a:r>
              <a:rPr lang="en-US" sz="2200" dirty="0" err="1"/>
              <a:t>Phân</a:t>
            </a:r>
            <a:r>
              <a:rPr lang="en-US" sz="2200" dirty="0"/>
              <a:t> </a:t>
            </a:r>
            <a:r>
              <a:rPr lang="en-US" sz="2200" dirty="0" err="1"/>
              <a:t>cụm</a:t>
            </a:r>
            <a:r>
              <a:rPr lang="en-US" sz="2200" dirty="0"/>
              <a:t> &amp; </a:t>
            </a:r>
            <a:r>
              <a:rPr lang="en-US" sz="2200" dirty="0" err="1"/>
              <a:t>Luật</a:t>
            </a:r>
            <a:r>
              <a:rPr lang="en-US" sz="2200" dirty="0"/>
              <a:t> </a:t>
            </a: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endParaRPr lang="en-US" sz="2200" dirty="0"/>
          </a:p>
          <a:p>
            <a:pPr marL="457200" indent="-457200">
              <a:buAutoNum type="arabicPeriod" startAt="2"/>
            </a:pPr>
            <a:r>
              <a:rPr lang="en-US" sz="2200" dirty="0" err="1"/>
              <a:t>Góc</a:t>
            </a:r>
            <a:r>
              <a:rPr lang="en-US" sz="2200" dirty="0"/>
              <a:t> </a:t>
            </a:r>
            <a:r>
              <a:rPr lang="en-US" sz="2200" dirty="0" err="1"/>
              <a:t>nhìn</a:t>
            </a:r>
            <a:r>
              <a:rPr lang="en-US" sz="2200" dirty="0"/>
              <a:t> </a:t>
            </a:r>
            <a:r>
              <a:rPr lang="en-US" sz="2200" dirty="0" err="1"/>
              <a:t>thời</a:t>
            </a:r>
            <a:r>
              <a:rPr lang="en-US" sz="2200" dirty="0"/>
              <a:t> </a:t>
            </a:r>
            <a:r>
              <a:rPr lang="en-US" sz="2200" dirty="0" err="1"/>
              <a:t>gian</a:t>
            </a:r>
            <a:r>
              <a:rPr lang="en-US" sz="2200" dirty="0"/>
              <a:t> – </a:t>
            </a:r>
            <a:r>
              <a:rPr lang="en-US" sz="2200" dirty="0" err="1"/>
              <a:t>Chuỗi</a:t>
            </a:r>
            <a:r>
              <a:rPr lang="en-US" sz="2200" dirty="0"/>
              <a:t> </a:t>
            </a:r>
            <a:r>
              <a:rPr lang="en-US" sz="2200" dirty="0" err="1"/>
              <a:t>thời</a:t>
            </a:r>
            <a:r>
              <a:rPr lang="en-US" sz="2200" dirty="0"/>
              <a:t> </a:t>
            </a:r>
            <a:r>
              <a:rPr lang="en-US" sz="2200" dirty="0" err="1"/>
              <a:t>gian</a:t>
            </a:r>
            <a:r>
              <a:rPr lang="en-US" sz="2200" dirty="0"/>
              <a:t> </a:t>
            </a:r>
          </a:p>
          <a:p>
            <a:pPr marL="457200" indent="-457200">
              <a:buAutoNum type="arabicPeriod" startAt="2"/>
            </a:pPr>
            <a:r>
              <a:rPr lang="en-US" sz="2200" dirty="0" err="1"/>
              <a:t>Tổng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&amp; </a:t>
            </a:r>
            <a:r>
              <a:rPr lang="en-US" sz="2200" dirty="0" err="1"/>
              <a:t>Ứng</a:t>
            </a:r>
            <a:r>
              <a:rPr lang="en-US" sz="2200" dirty="0"/>
              <a:t> </a:t>
            </a:r>
            <a:r>
              <a:rPr lang="en-US" sz="2200" dirty="0" err="1"/>
              <a:t>dụng</a:t>
            </a:r>
            <a:endParaRPr lang="en-US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3A6450-4023-1B97-C4A8-011102EAC2B3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FFF9D-C219-7A84-AE27-AC0D9A4C5EF3}"/>
              </a:ext>
            </a:extLst>
          </p:cNvPr>
          <p:cNvSpPr txBox="1"/>
          <p:nvPr/>
        </p:nvSpPr>
        <p:spPr>
          <a:xfrm>
            <a:off x="5262113" y="6363361"/>
            <a:ext cx="4433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26/12/2025</a:t>
            </a:r>
          </a:p>
        </p:txBody>
      </p:sp>
    </p:spTree>
    <p:extLst>
      <p:ext uri="{BB962C8B-B14F-4D97-AF65-F5344CB8AC3E}">
        <p14:creationId xmlns:p14="http://schemas.microsoft.com/office/powerpoint/2010/main" val="802596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773B-A512-3934-A6DD-7F1E06C0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14548" cy="948476"/>
          </a:xfrm>
        </p:spPr>
        <p:txBody>
          <a:bodyPr>
            <a:normAutofit/>
          </a:bodyPr>
          <a:lstStyle/>
          <a:p>
            <a:r>
              <a:rPr lang="en-US" sz="3600" dirty="0"/>
              <a:t>1.   </a:t>
            </a:r>
            <a:r>
              <a:rPr lang="en-US" sz="3600" dirty="0" err="1"/>
              <a:t>Vấn</a:t>
            </a:r>
            <a:r>
              <a:rPr lang="en-US" sz="3600" dirty="0"/>
              <a:t> </a:t>
            </a:r>
            <a:r>
              <a:rPr lang="en-US" sz="3600" dirty="0" err="1"/>
              <a:t>đề</a:t>
            </a:r>
            <a:r>
              <a:rPr lang="en-US" sz="3600" dirty="0"/>
              <a:t> &amp; </a:t>
            </a:r>
            <a:r>
              <a:rPr lang="en-US" sz="3600" dirty="0" err="1"/>
              <a:t>Mục</a:t>
            </a:r>
            <a:r>
              <a:rPr lang="en-US" sz="3600" dirty="0"/>
              <a:t> </a:t>
            </a:r>
            <a:r>
              <a:rPr lang="en-US" sz="3600" dirty="0" err="1"/>
              <a:t>tiêu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32EC-7B12-BFE3-CF45-6F6462293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73541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</a:rPr>
              <a:t>Đặt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</a:rPr>
              <a:t>vấn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</a:rPr>
              <a:t>đề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dirty="0" err="1"/>
              <a:t>Tỷ</a:t>
            </a:r>
            <a:r>
              <a:rPr lang="en-US" sz="2200" dirty="0"/>
              <a:t> </a:t>
            </a:r>
            <a:r>
              <a:rPr lang="en-US" sz="2200" dirty="0" err="1"/>
              <a:t>lệ</a:t>
            </a:r>
            <a:r>
              <a:rPr lang="en-US" sz="2200" dirty="0"/>
              <a:t> </a:t>
            </a:r>
            <a:r>
              <a:rPr lang="en-US" sz="2200" dirty="0" err="1"/>
              <a:t>hủy</a:t>
            </a:r>
            <a:r>
              <a:rPr lang="en-US" sz="2200" dirty="0"/>
              <a:t> </a:t>
            </a:r>
            <a:r>
              <a:rPr lang="en-US" sz="2200" dirty="0" err="1"/>
              <a:t>phòng</a:t>
            </a:r>
            <a:r>
              <a:rPr lang="en-US" sz="2200" dirty="0"/>
              <a:t> </a:t>
            </a:r>
            <a:r>
              <a:rPr lang="en-US" sz="2200" dirty="0" err="1"/>
              <a:t>cao</a:t>
            </a:r>
            <a:r>
              <a:rPr lang="en-US" sz="2200" dirty="0"/>
              <a:t>, </a:t>
            </a:r>
            <a:r>
              <a:rPr lang="en-US" sz="2200" dirty="0" err="1"/>
              <a:t>nhu</a:t>
            </a:r>
            <a:r>
              <a:rPr lang="en-US" sz="2200" dirty="0"/>
              <a:t> </a:t>
            </a:r>
            <a:r>
              <a:rPr lang="en-US" sz="2200" dirty="0" err="1"/>
              <a:t>cầu</a:t>
            </a:r>
            <a:r>
              <a:rPr lang="en-US" sz="2200" dirty="0"/>
              <a:t> </a:t>
            </a:r>
            <a:r>
              <a:rPr lang="en-US" sz="2200" dirty="0" err="1"/>
              <a:t>đặt</a:t>
            </a:r>
            <a:r>
              <a:rPr lang="en-US" sz="2200" dirty="0"/>
              <a:t> </a:t>
            </a:r>
            <a:r>
              <a:rPr lang="en-US" sz="2200" dirty="0" err="1"/>
              <a:t>phòng</a:t>
            </a:r>
            <a:r>
              <a:rPr lang="en-US" sz="2200" dirty="0"/>
              <a:t> </a:t>
            </a:r>
            <a:r>
              <a:rPr lang="en-US" sz="2200" dirty="0" err="1"/>
              <a:t>biến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 </a:t>
            </a:r>
            <a:r>
              <a:rPr lang="en-US" sz="2200" dirty="0" err="1"/>
              <a:t>theo</a:t>
            </a:r>
            <a:r>
              <a:rPr lang="en-US" sz="2200" dirty="0"/>
              <a:t> </a:t>
            </a:r>
            <a:r>
              <a:rPr lang="en-US" sz="2200" dirty="0" err="1"/>
              <a:t>mùa</a:t>
            </a:r>
            <a:r>
              <a:rPr lang="en-US" sz="2200" dirty="0"/>
              <a:t>,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phương</a:t>
            </a:r>
            <a:r>
              <a:rPr lang="en-US" sz="2200" dirty="0"/>
              <a:t> </a:t>
            </a:r>
            <a:r>
              <a:rPr lang="en-US" sz="2200" dirty="0" err="1"/>
              <a:t>pháp</a:t>
            </a:r>
            <a:r>
              <a:rPr lang="en-US" sz="2200" dirty="0"/>
              <a:t> </a:t>
            </a:r>
            <a:r>
              <a:rPr lang="en-US" sz="2200" dirty="0" err="1"/>
              <a:t>truyền</a:t>
            </a:r>
            <a:r>
              <a:rPr lang="en-US" sz="2200" dirty="0"/>
              <a:t> </a:t>
            </a:r>
            <a:r>
              <a:rPr lang="en-US" sz="2200" dirty="0" err="1"/>
              <a:t>thống</a:t>
            </a:r>
            <a:r>
              <a:rPr lang="en-US" sz="2200" dirty="0"/>
              <a:t> </a:t>
            </a:r>
            <a:r>
              <a:rPr lang="en-US" sz="2200" dirty="0" err="1"/>
              <a:t>chỉ</a:t>
            </a:r>
            <a:r>
              <a:rPr lang="en-US" sz="2200" dirty="0"/>
              <a:t> </a:t>
            </a:r>
            <a:r>
              <a:rPr lang="en-US" sz="2200" dirty="0" err="1"/>
              <a:t>dựa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kinh</a:t>
            </a:r>
            <a:r>
              <a:rPr lang="en-US" sz="2200" dirty="0"/>
              <a:t> </a:t>
            </a:r>
            <a:r>
              <a:rPr lang="en-US" sz="2200" dirty="0" err="1"/>
              <a:t>nghiệm</a:t>
            </a:r>
            <a:r>
              <a:rPr lang="en-US" sz="2200" dirty="0"/>
              <a:t> </a:t>
            </a:r>
            <a:r>
              <a:rPr lang="en-US" sz="2200" dirty="0" err="1"/>
              <a:t>mà</a:t>
            </a:r>
            <a:r>
              <a:rPr lang="en-US" sz="2200" dirty="0"/>
              <a:t> </a:t>
            </a:r>
            <a:r>
              <a:rPr lang="en-US" sz="2200" dirty="0" err="1"/>
              <a:t>chưa</a:t>
            </a:r>
            <a:r>
              <a:rPr lang="en-US" sz="2200" dirty="0"/>
              <a:t> </a:t>
            </a:r>
            <a:r>
              <a:rPr lang="en-US" sz="2200" dirty="0" err="1"/>
              <a:t>hề</a:t>
            </a:r>
            <a:r>
              <a:rPr lang="en-US" sz="2200" dirty="0"/>
              <a:t> </a:t>
            </a:r>
            <a:r>
              <a:rPr lang="en-US" sz="2200" dirty="0" err="1"/>
              <a:t>khai</a:t>
            </a:r>
            <a:r>
              <a:rPr lang="en-US" sz="2200" dirty="0"/>
              <a:t> </a:t>
            </a:r>
            <a:r>
              <a:rPr lang="en-US" sz="2200" dirty="0" err="1"/>
              <a:t>thác</a:t>
            </a:r>
            <a:r>
              <a:rPr lang="en-US" sz="2200" dirty="0"/>
              <a:t> </a:t>
            </a:r>
            <a:r>
              <a:rPr lang="en-US" sz="2200" dirty="0" err="1"/>
              <a:t>hết</a:t>
            </a:r>
            <a:r>
              <a:rPr lang="en-US" sz="2200" dirty="0"/>
              <a:t> </a:t>
            </a:r>
            <a:r>
              <a:rPr lang="en-US" sz="2200" dirty="0" err="1"/>
              <a:t>dữ</a:t>
            </a:r>
            <a:r>
              <a:rPr lang="en-US" sz="2200" dirty="0"/>
              <a:t> </a:t>
            </a:r>
            <a:r>
              <a:rPr lang="en-US" sz="2200" dirty="0" err="1"/>
              <a:t>liệu</a:t>
            </a:r>
            <a:r>
              <a:rPr lang="en-US" sz="2200" dirty="0"/>
              <a:t> </a:t>
            </a:r>
            <a:r>
              <a:rPr lang="en-US" sz="2200" dirty="0" err="1"/>
              <a:t>lịch</a:t>
            </a:r>
            <a:r>
              <a:rPr lang="en-US" sz="2200" dirty="0"/>
              <a:t> </a:t>
            </a:r>
            <a:r>
              <a:rPr lang="en-US" sz="2200" dirty="0" err="1"/>
              <a:t>sử</a:t>
            </a:r>
            <a:endParaRPr lang="en-US" sz="2200" dirty="0"/>
          </a:p>
        </p:txBody>
      </p:sp>
      <p:pic>
        <p:nvPicPr>
          <p:cNvPr id="4" name="Picture 2" descr="Booking cancellation ratio per year ">
            <a:extLst>
              <a:ext uri="{FF2B5EF4-FFF2-40B4-BE49-F238E27FC236}">
                <a16:creationId xmlns:a16="http://schemas.microsoft.com/office/drawing/2014/main" id="{3E910E2C-0FB0-2F8D-0B75-859CA60BA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9291"/>
            <a:ext cx="5479850" cy="384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Lead time and cancellation time by month ">
            <a:extLst>
              <a:ext uri="{FF2B5EF4-FFF2-40B4-BE49-F238E27FC236}">
                <a16:creationId xmlns:a16="http://schemas.microsoft.com/office/drawing/2014/main" id="{684BC1FC-A3A2-9E6A-45BB-0EBC05FEB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81632"/>
            <a:ext cx="5582889" cy="384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08E6D9-037A-9641-2D06-6256DA0CABA7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52DBC-B8E4-4519-5D73-3F4DA9855170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468D2D-18A8-3092-778E-B481FB245132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</a:t>
            </a:r>
            <a:r>
              <a:rPr lang="en-US" sz="1600" b="1" dirty="0" err="1"/>
              <a:t>Vấn</a:t>
            </a:r>
            <a:r>
              <a:rPr lang="en-US" sz="1600" b="1" dirty="0"/>
              <a:t> </a:t>
            </a:r>
            <a:r>
              <a:rPr lang="en-US" sz="1600" b="1" dirty="0" err="1"/>
              <a:t>đề</a:t>
            </a:r>
            <a:r>
              <a:rPr lang="en-US" sz="1600" b="1" dirty="0"/>
              <a:t> &amp; </a:t>
            </a:r>
            <a:r>
              <a:rPr lang="en-US" sz="1600" b="1" dirty="0" err="1"/>
              <a:t>Mục</a:t>
            </a:r>
            <a:r>
              <a:rPr lang="en-US" sz="1600" b="1" dirty="0"/>
              <a:t> </a:t>
            </a:r>
            <a:r>
              <a:rPr lang="en-US" sz="1600" b="1" dirty="0" err="1"/>
              <a:t>tiêu</a:t>
            </a:r>
            <a:endParaRPr 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D83F0-9716-3871-6C40-5BF52AEB7CEA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73C19-AD0F-9126-AD78-7AD29A8D0E6E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&amp;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D9768A-A80E-EF61-9D38-9C6EB3EEF337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F53D7A-BDDD-00BA-5105-F0E63F853760}"/>
              </a:ext>
            </a:extLst>
          </p:cNvPr>
          <p:cNvSpPr txBox="1"/>
          <p:nvPr/>
        </p:nvSpPr>
        <p:spPr>
          <a:xfrm>
            <a:off x="2175759" y="6354168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FBBD6-09B7-669A-ECF4-16BACC0D7D00}"/>
              </a:ext>
            </a:extLst>
          </p:cNvPr>
          <p:cNvSpPr txBox="1"/>
          <p:nvPr/>
        </p:nvSpPr>
        <p:spPr>
          <a:xfrm>
            <a:off x="4349780" y="5616011"/>
            <a:ext cx="6667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Minh </a:t>
            </a:r>
            <a:r>
              <a:rPr lang="en-US" sz="1600" i="1" dirty="0" err="1"/>
              <a:t>họa</a:t>
            </a:r>
            <a:r>
              <a:rPr lang="en-US" sz="1600" i="1" dirty="0"/>
              <a:t> </a:t>
            </a:r>
            <a:r>
              <a:rPr lang="en-US" sz="1600" i="1" dirty="0" err="1"/>
              <a:t>tỷ</a:t>
            </a:r>
            <a:r>
              <a:rPr lang="en-US" sz="1600" i="1" dirty="0"/>
              <a:t> </a:t>
            </a:r>
            <a:r>
              <a:rPr lang="en-US" sz="1600" i="1" dirty="0" err="1"/>
              <a:t>lệ</a:t>
            </a:r>
            <a:r>
              <a:rPr lang="en-US" sz="1600" i="1" dirty="0"/>
              <a:t> </a:t>
            </a:r>
            <a:r>
              <a:rPr lang="en-US" sz="1600" i="1" dirty="0" err="1"/>
              <a:t>hủy</a:t>
            </a:r>
            <a:r>
              <a:rPr lang="en-US" sz="1600" i="1" dirty="0"/>
              <a:t> </a:t>
            </a:r>
            <a:r>
              <a:rPr lang="en-US" sz="1600" i="1" dirty="0" err="1"/>
              <a:t>phòng</a:t>
            </a:r>
            <a:r>
              <a:rPr lang="en-US" sz="1600" i="1" dirty="0"/>
              <a:t> </a:t>
            </a:r>
            <a:r>
              <a:rPr lang="en-US" sz="1600" i="1" dirty="0" err="1"/>
              <a:t>theo</a:t>
            </a:r>
            <a:r>
              <a:rPr lang="en-US" sz="1600" i="1" dirty="0"/>
              <a:t> </a:t>
            </a:r>
            <a:r>
              <a:rPr lang="en-US" sz="1600" i="1" dirty="0" err="1"/>
              <a:t>từng</a:t>
            </a:r>
            <a:r>
              <a:rPr lang="en-US" sz="1600" i="1" dirty="0"/>
              <a:t> </a:t>
            </a:r>
            <a:r>
              <a:rPr lang="en-US" sz="1600" i="1" dirty="0" err="1"/>
              <a:t>năm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49296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69AF-AD10-A6D0-3D4B-2B2AA588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5FB4-71DE-1495-D3F5-0C7917E1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763109" cy="948476"/>
          </a:xfrm>
        </p:spPr>
        <p:txBody>
          <a:bodyPr>
            <a:normAutofit fontScale="90000"/>
          </a:bodyPr>
          <a:lstStyle/>
          <a:p>
            <a:pPr marL="457200" indent="-457200">
              <a:buAutoNum type="arabicPeriod" startAt="2"/>
            </a:pPr>
            <a:r>
              <a:rPr lang="en-US" sz="3600" dirty="0" err="1"/>
              <a:t>Dữ</a:t>
            </a:r>
            <a:r>
              <a:rPr lang="en-US" sz="3600" dirty="0"/>
              <a:t> </a:t>
            </a:r>
            <a:r>
              <a:rPr lang="en-US" sz="3600" dirty="0" err="1"/>
              <a:t>liệu</a:t>
            </a:r>
            <a:r>
              <a:rPr lang="en-US" sz="3600" dirty="0"/>
              <a:t> &amp; Khai </a:t>
            </a:r>
            <a:r>
              <a:rPr lang="en-US" sz="3600" dirty="0" err="1"/>
              <a:t>phá</a:t>
            </a:r>
            <a:r>
              <a:rPr lang="en-US" sz="3600" dirty="0"/>
              <a:t> ban </a:t>
            </a:r>
            <a:r>
              <a:rPr lang="en-US" sz="3600" dirty="0" err="1"/>
              <a:t>đầu</a:t>
            </a:r>
            <a:r>
              <a:rPr lang="en-US" sz="3600" dirty="0"/>
              <a:t>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EDEE-8AEC-E786-2750-8A8BDEBB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73541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Dữ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liệu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dirty="0"/>
              <a:t>Hotel Booking Demand (Kaggle)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Mô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tả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dirty="0"/>
              <a:t>Bao </a:t>
            </a:r>
            <a:r>
              <a:rPr lang="en-US" sz="2200" dirty="0" err="1"/>
              <a:t>gồm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 </a:t>
            </a:r>
            <a:r>
              <a:rPr lang="en-US" sz="2200" b="1" dirty="0"/>
              <a:t>119.390</a:t>
            </a:r>
            <a:r>
              <a:rPr lang="en-US" sz="2200" dirty="0"/>
              <a:t> </a:t>
            </a:r>
            <a:r>
              <a:rPr lang="en-US" sz="2200" dirty="0" err="1"/>
              <a:t>bản</a:t>
            </a:r>
            <a:r>
              <a:rPr lang="en-US" sz="2200" dirty="0"/>
              <a:t> </a:t>
            </a:r>
            <a:r>
              <a:rPr lang="en-US" sz="2200" dirty="0" err="1"/>
              <a:t>ghi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b="1" dirty="0"/>
              <a:t>32</a:t>
            </a:r>
            <a:r>
              <a:rPr lang="en-US" sz="2200" dirty="0"/>
              <a:t> </a:t>
            </a:r>
            <a:r>
              <a:rPr lang="en-US" sz="2200" dirty="0" err="1"/>
              <a:t>đặc</a:t>
            </a:r>
            <a:r>
              <a:rPr lang="en-US" sz="2200" dirty="0"/>
              <a:t> </a:t>
            </a:r>
            <a:r>
              <a:rPr lang="en-US" sz="2200" dirty="0" err="1"/>
              <a:t>trưng</a:t>
            </a:r>
            <a:r>
              <a:rPr lang="en-US" sz="2200" dirty="0"/>
              <a:t>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EEE9CD-36C4-B72F-C8B4-83D94F5613C3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2C95C-57D4-A68A-5A55-7BABEC5384CE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081EB-025B-88B2-591B-A4EB3027052C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45C90-B144-4546-B9D1-D2643DB28184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2F915-356F-66DD-ECDE-E63CDA6F85DC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&amp;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5285B-5233-80D9-D87C-2E33BFB87EB7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8AD6F-F57B-B42E-39D4-105E8BC424A3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</a:t>
            </a:r>
            <a:r>
              <a:rPr lang="en-US" sz="1600" b="1" dirty="0" err="1"/>
              <a:t>Dữ</a:t>
            </a:r>
            <a:r>
              <a:rPr lang="en-US" sz="1600" b="1" dirty="0"/>
              <a:t> </a:t>
            </a:r>
            <a:r>
              <a:rPr lang="en-US" sz="1600" b="1" dirty="0" err="1"/>
              <a:t>liệu</a:t>
            </a:r>
            <a:r>
              <a:rPr lang="en-US" sz="1600" b="1" dirty="0"/>
              <a:t> &amp; EDA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DA668F-B11C-AD2E-A4B1-F6FFBC97A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44" y="1683079"/>
            <a:ext cx="5577840" cy="35279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CFE2ED-59FB-9BD3-BBE5-0058D06E7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169" y="1683079"/>
            <a:ext cx="4389120" cy="40226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F5925B9-B8CF-6190-B625-F66496E3F324}"/>
              </a:ext>
            </a:extLst>
          </p:cNvPr>
          <p:cNvSpPr txBox="1"/>
          <p:nvPr/>
        </p:nvSpPr>
        <p:spPr>
          <a:xfrm>
            <a:off x="6977237" y="5572217"/>
            <a:ext cx="603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37% </a:t>
            </a:r>
            <a:r>
              <a:rPr lang="en-US" dirty="0" err="1"/>
              <a:t>booling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–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70CE0B-5FDA-592D-E6E8-1487D13E33AC}"/>
              </a:ext>
            </a:extLst>
          </p:cNvPr>
          <p:cNvSpPr txBox="1"/>
          <p:nvPr/>
        </p:nvSpPr>
        <p:spPr>
          <a:xfrm>
            <a:off x="172528" y="5336444"/>
            <a:ext cx="659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lead_time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–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đến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2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55E6-F54E-BB57-D0DB-881C11875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D5F6-9438-2F2D-3DDA-EBAE6B6C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763109" cy="948476"/>
          </a:xfrm>
        </p:spPr>
        <p:txBody>
          <a:bodyPr>
            <a:normAutofit fontScale="90000"/>
          </a:bodyPr>
          <a:lstStyle/>
          <a:p>
            <a:pPr marL="457200" indent="-457200">
              <a:buAutoNum type="arabicPeriod" startAt="2"/>
            </a:pPr>
            <a:r>
              <a:rPr lang="en-US" sz="3600" dirty="0" err="1"/>
              <a:t>Dữ</a:t>
            </a:r>
            <a:r>
              <a:rPr lang="en-US" sz="3600" dirty="0"/>
              <a:t> </a:t>
            </a:r>
            <a:r>
              <a:rPr lang="en-US" sz="3600" dirty="0" err="1"/>
              <a:t>liệu</a:t>
            </a:r>
            <a:r>
              <a:rPr lang="en-US" sz="3600" dirty="0"/>
              <a:t> &amp; Khai </a:t>
            </a:r>
            <a:r>
              <a:rPr lang="en-US" sz="3600" dirty="0" err="1"/>
              <a:t>phá</a:t>
            </a:r>
            <a:r>
              <a:rPr lang="en-US" sz="3600" dirty="0"/>
              <a:t> ban </a:t>
            </a:r>
            <a:r>
              <a:rPr lang="en-US" sz="3600" dirty="0" err="1"/>
              <a:t>đầu</a:t>
            </a:r>
            <a:r>
              <a:rPr lang="en-US" sz="3600" dirty="0"/>
              <a:t>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8A4F0-D11C-B052-FE6C-62EA64862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73541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Mối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tương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quan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với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biến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tỷ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lệ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hủy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  <a:endParaRPr lang="en-US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AE4260-7100-28CF-186D-6DFC5F554407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D807B-B682-4041-37F4-259F186D5F78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A66AF-2F40-8408-377A-C0732CE2AF48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F05CC-340D-BD32-ABB9-53965DB4224C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2A6B5-2402-535C-3015-4640DF5B77DB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&amp;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CA55C-383D-3587-8BB8-31B1A7F573AA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07A88-A440-AF68-3879-5016021922A8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</a:t>
            </a:r>
            <a:r>
              <a:rPr lang="en-US" sz="1600" b="1" dirty="0" err="1"/>
              <a:t>Dữ</a:t>
            </a:r>
            <a:r>
              <a:rPr lang="en-US" sz="1600" b="1" dirty="0"/>
              <a:t> </a:t>
            </a:r>
            <a:r>
              <a:rPr lang="en-US" sz="1600" b="1" dirty="0" err="1"/>
              <a:t>liệu</a:t>
            </a:r>
            <a:r>
              <a:rPr lang="en-US" sz="1600" b="1" dirty="0"/>
              <a:t> &amp; EDA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DF7A8B-A682-C0CA-D7A9-8C74E0AD0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37" y="1137002"/>
            <a:ext cx="5852160" cy="49439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1260E5-0355-F3BA-B754-71A8F2533449}"/>
              </a:ext>
            </a:extLst>
          </p:cNvPr>
          <p:cNvSpPr txBox="1"/>
          <p:nvPr/>
        </p:nvSpPr>
        <p:spPr>
          <a:xfrm>
            <a:off x="6434345" y="2828835"/>
            <a:ext cx="5357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Ý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nghĩa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  <a:endParaRPr lang="en-US" i="1" dirty="0"/>
          </a:p>
          <a:p>
            <a:r>
              <a:rPr lang="en-US" i="1" dirty="0"/>
              <a:t>	</a:t>
            </a:r>
            <a:r>
              <a:rPr lang="vi-VN" i="1" dirty="0"/>
              <a:t>Lead_time </a:t>
            </a:r>
            <a:r>
              <a:rPr lang="vi-VN" dirty="0"/>
              <a:t>có mối tương quan dương rõ ràng nhất với việc hủy phòng, trong khi giá (ADR) và các yếu tố khác chỉ có ảnh hưởng yếu.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81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8F6D7-0E94-EE92-96F4-65C2AA3F9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7A78-EB51-562B-5247-EE8F5E3B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239556" cy="94847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3.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đoán</a:t>
            </a:r>
            <a:r>
              <a:rPr lang="en-US" sz="3600" dirty="0"/>
              <a:t> </a:t>
            </a:r>
            <a:r>
              <a:rPr lang="en-US" sz="3600" dirty="0" err="1"/>
              <a:t>khả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r>
              <a:rPr lang="en-US" sz="3600" dirty="0"/>
              <a:t> </a:t>
            </a:r>
            <a:r>
              <a:rPr lang="en-US" sz="3600" dirty="0" err="1"/>
              <a:t>hủy</a:t>
            </a:r>
            <a:r>
              <a:rPr lang="en-US" sz="3600" dirty="0"/>
              <a:t> </a:t>
            </a:r>
            <a:r>
              <a:rPr lang="en-US" sz="3600" dirty="0" err="1"/>
              <a:t>phòng</a:t>
            </a:r>
            <a:r>
              <a:rPr lang="en-US" sz="3600" dirty="0"/>
              <a:t> –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loại</a:t>
            </a:r>
            <a:r>
              <a:rPr lang="en-US" sz="3600" dirty="0"/>
              <a:t> (Classification)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A1AE6-0BC5-E63E-317A-048C97640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688600"/>
            <a:ext cx="11669626" cy="948476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Câu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hỏi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i="1" dirty="0" err="1"/>
              <a:t>thể</a:t>
            </a:r>
            <a:r>
              <a:rPr lang="en-US" sz="2400" i="1" dirty="0"/>
              <a:t> </a:t>
            </a:r>
            <a:r>
              <a:rPr lang="en-US" sz="2400" i="1" dirty="0" err="1"/>
              <a:t>dự</a:t>
            </a:r>
            <a:r>
              <a:rPr lang="en-US" sz="2400" i="1" dirty="0"/>
              <a:t> </a:t>
            </a:r>
            <a:r>
              <a:rPr lang="en-US" sz="2400" i="1" dirty="0" err="1"/>
              <a:t>đoán</a:t>
            </a:r>
            <a:r>
              <a:rPr lang="en-US" sz="2400" i="1" dirty="0"/>
              <a:t> </a:t>
            </a:r>
            <a:r>
              <a:rPr lang="en-US" sz="2400" i="1" dirty="0" err="1"/>
              <a:t>khả</a:t>
            </a:r>
            <a:r>
              <a:rPr lang="en-US" sz="2400" i="1" dirty="0"/>
              <a:t> </a:t>
            </a:r>
            <a:r>
              <a:rPr lang="en-US" sz="2400" i="1" dirty="0" err="1"/>
              <a:t>năng</a:t>
            </a:r>
            <a:r>
              <a:rPr lang="en-US" sz="2400" i="1" dirty="0"/>
              <a:t> </a:t>
            </a:r>
            <a:r>
              <a:rPr lang="en-US" sz="2400" i="1" dirty="0" err="1"/>
              <a:t>hủy</a:t>
            </a:r>
            <a:r>
              <a:rPr lang="en-US" sz="2400" i="1" dirty="0"/>
              <a:t> </a:t>
            </a:r>
            <a:r>
              <a:rPr lang="en-US" sz="2400" i="1" dirty="0" err="1"/>
              <a:t>phòng</a:t>
            </a:r>
            <a:r>
              <a:rPr lang="en-US" sz="2400" i="1" dirty="0"/>
              <a:t> </a:t>
            </a:r>
            <a:r>
              <a:rPr lang="en-US" sz="2400" i="1" dirty="0" err="1"/>
              <a:t>từ</a:t>
            </a:r>
            <a:r>
              <a:rPr lang="en-US" sz="2400" i="1" dirty="0"/>
              <a:t> ban </a:t>
            </a:r>
            <a:r>
              <a:rPr lang="en-US" sz="2400" i="1" dirty="0" err="1"/>
              <a:t>đầu</a:t>
            </a:r>
            <a:r>
              <a:rPr lang="en-US" sz="2400" i="1" dirty="0"/>
              <a:t> hay </a:t>
            </a:r>
            <a:r>
              <a:rPr lang="en-US" sz="2400" i="1" dirty="0" err="1"/>
              <a:t>không</a:t>
            </a:r>
            <a:r>
              <a:rPr lang="en-US" sz="2400" i="1" dirty="0"/>
              <a:t>?</a:t>
            </a:r>
            <a:endParaRPr lang="en-US" sz="2200" i="1" dirty="0"/>
          </a:p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 Quy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trình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thực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hiện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 		          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Mô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hình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sử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dụng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i="1" dirty="0"/>
              <a:t>Logistic Regression, Decision Tree, Random Forest</a:t>
            </a:r>
            <a:r>
              <a:rPr lang="en-US" sz="2200" b="1" dirty="0"/>
              <a:t>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CD90D-8E16-D2EA-2530-3BD246E2E2C7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9C8F4-5B39-3F36-153A-A2D876567D2D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5CB99-FAF9-FB30-31F3-CB1A1FB2DF50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080DC-6128-A157-1ED8-FED5C750B679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91E763-F191-B034-1D66-22A618A9C99F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&amp;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D8408-9CC8-32B1-F80B-72A1EA052117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3. </a:t>
            </a:r>
            <a:r>
              <a:rPr lang="en-US" sz="1600" b="1" dirty="0" err="1"/>
              <a:t>Dự</a:t>
            </a:r>
            <a:r>
              <a:rPr lang="en-US" sz="1600" b="1" dirty="0"/>
              <a:t> </a:t>
            </a:r>
            <a:r>
              <a:rPr lang="en-US" sz="1600" b="1" dirty="0" err="1"/>
              <a:t>đoán</a:t>
            </a:r>
            <a:r>
              <a:rPr lang="en-US" sz="16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156BB7-BE65-A205-06AC-EF55AD84CF88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0926A2-5C60-09AE-EA2B-A2C76B51366D}"/>
              </a:ext>
            </a:extLst>
          </p:cNvPr>
          <p:cNvSpPr/>
          <p:nvPr/>
        </p:nvSpPr>
        <p:spPr>
          <a:xfrm>
            <a:off x="499851" y="1716104"/>
            <a:ext cx="2493034" cy="68148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2E1BC1-F67D-5DDC-76EC-FCA7CD52A6C0}"/>
              </a:ext>
            </a:extLst>
          </p:cNvPr>
          <p:cNvSpPr/>
          <p:nvPr/>
        </p:nvSpPr>
        <p:spPr>
          <a:xfrm>
            <a:off x="499851" y="2628843"/>
            <a:ext cx="2493034" cy="68148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6F69F3-8B52-CC68-ED8C-951AE8B1C40E}"/>
              </a:ext>
            </a:extLst>
          </p:cNvPr>
          <p:cNvSpPr/>
          <p:nvPr/>
        </p:nvSpPr>
        <p:spPr>
          <a:xfrm>
            <a:off x="3602966" y="2628842"/>
            <a:ext cx="2493034" cy="68148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Sinh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887D0F-D27C-42C7-C0F9-0240627B8800}"/>
              </a:ext>
            </a:extLst>
          </p:cNvPr>
          <p:cNvSpPr/>
          <p:nvPr/>
        </p:nvSpPr>
        <p:spPr>
          <a:xfrm>
            <a:off x="6706080" y="2618480"/>
            <a:ext cx="2493034" cy="68148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Chia </a:t>
            </a:r>
            <a:r>
              <a:rPr lang="en-US" dirty="0" err="1"/>
              <a:t>tập</a:t>
            </a:r>
            <a:r>
              <a:rPr lang="en-US" dirty="0"/>
              <a:t> train / test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B79A61-8AE5-AD7B-24F4-B164C36AD2A1}"/>
              </a:ext>
            </a:extLst>
          </p:cNvPr>
          <p:cNvSpPr/>
          <p:nvPr/>
        </p:nvSpPr>
        <p:spPr>
          <a:xfrm>
            <a:off x="9600719" y="2618480"/>
            <a:ext cx="2493034" cy="68148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B4201B-08E6-AFF5-A288-2834DFC0E1CD}"/>
              </a:ext>
            </a:extLst>
          </p:cNvPr>
          <p:cNvSpPr/>
          <p:nvPr/>
        </p:nvSpPr>
        <p:spPr>
          <a:xfrm>
            <a:off x="9600719" y="4281371"/>
            <a:ext cx="2493034" cy="68148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82ECB2-E365-5C70-4C1A-EAF8FEA3DA3A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1746368" y="2397591"/>
            <a:ext cx="0" cy="2312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39161A-9A9A-1218-0F8A-40101DBAA1F5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2992885" y="2969586"/>
            <a:ext cx="61008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4C7C5EA-C624-2CEE-3F48-3BA587D4427D}"/>
              </a:ext>
            </a:extLst>
          </p:cNvPr>
          <p:cNvCxnSpPr>
            <a:cxnSpLocks/>
            <a:stCxn id="23" idx="3"/>
            <a:endCxn id="28" idx="1"/>
          </p:cNvCxnSpPr>
          <p:nvPr/>
        </p:nvCxnSpPr>
        <p:spPr>
          <a:xfrm flipV="1">
            <a:off x="6096000" y="2959224"/>
            <a:ext cx="610080" cy="103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3E37D6-0707-32BA-832F-1E28BDB56F75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9199114" y="2959224"/>
            <a:ext cx="401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A89DC9A-92E5-0060-FB78-DD33C2E96379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10847236" y="3299967"/>
            <a:ext cx="0" cy="9814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53CCD07-2C65-D846-CD51-C56CA1A41C5E}"/>
              </a:ext>
            </a:extLst>
          </p:cNvPr>
          <p:cNvSpPr txBox="1"/>
          <p:nvPr/>
        </p:nvSpPr>
        <p:spPr>
          <a:xfrm>
            <a:off x="4603707" y="3523223"/>
            <a:ext cx="49970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-  Các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đặc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trưng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mới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được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sinh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Total_stay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Total_guests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Is_family_trip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has_previous_cancel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adr_per_guest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arrival_month_num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arrival_weekday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season</a:t>
            </a:r>
          </a:p>
        </p:txBody>
      </p:sp>
    </p:spTree>
    <p:extLst>
      <p:ext uri="{BB962C8B-B14F-4D97-AF65-F5344CB8AC3E}">
        <p14:creationId xmlns:p14="http://schemas.microsoft.com/office/powerpoint/2010/main" val="323715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C843-CAA8-47B5-A779-70DBF9B0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6CAD-E49C-8177-4FC5-78CCD73A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239556" cy="94847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3.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đoán</a:t>
            </a:r>
            <a:r>
              <a:rPr lang="en-US" sz="3600" dirty="0"/>
              <a:t> </a:t>
            </a:r>
            <a:r>
              <a:rPr lang="en-US" sz="3600" dirty="0" err="1"/>
              <a:t>khả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r>
              <a:rPr lang="en-US" sz="3600" dirty="0"/>
              <a:t> </a:t>
            </a:r>
            <a:r>
              <a:rPr lang="en-US" sz="3600" dirty="0" err="1"/>
              <a:t>hủy</a:t>
            </a:r>
            <a:r>
              <a:rPr lang="en-US" sz="3600" dirty="0"/>
              <a:t> </a:t>
            </a:r>
            <a:r>
              <a:rPr lang="en-US" sz="3600" dirty="0" err="1"/>
              <a:t>phòng</a:t>
            </a:r>
            <a:r>
              <a:rPr lang="en-US" sz="3600" dirty="0"/>
              <a:t> –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loại</a:t>
            </a:r>
            <a:r>
              <a:rPr lang="en-US" sz="3600" dirty="0"/>
              <a:t> (Classification)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D8340-D629-8E48-4123-675CB9035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688600"/>
            <a:ext cx="11669626" cy="5808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Đánh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giá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thuật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toán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  <a:endParaRPr lang="en-US" sz="22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CE0EAA-7415-A55B-54AE-A5EEB6D7A0BB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3937C-0678-3AFC-25CF-7AD91CDA1CC5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260DEB-EF38-659B-061C-C7F1D74ED7CD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12130-BC7D-C83A-11F0-FC454085FB8B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52107-CE1D-0737-F134-48761AB621D5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&amp;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691368-5092-8A55-BE53-F7E9D29781E6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3. </a:t>
            </a:r>
            <a:r>
              <a:rPr lang="en-US" sz="1600" b="1" dirty="0" err="1"/>
              <a:t>Dự</a:t>
            </a:r>
            <a:r>
              <a:rPr lang="en-US" sz="1600" b="1" dirty="0"/>
              <a:t> </a:t>
            </a:r>
            <a:r>
              <a:rPr lang="en-US" sz="1600" b="1" dirty="0" err="1"/>
              <a:t>đoán</a:t>
            </a:r>
            <a:r>
              <a:rPr lang="en-US" sz="16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A5310-CC4A-4CD0-7700-382B121A4B75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1A31FF-3C8C-E7AA-304A-40AF6FF08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06322"/>
              </p:ext>
            </p:extLst>
          </p:nvPr>
        </p:nvGraphicFramePr>
        <p:xfrm>
          <a:off x="1374858" y="1324711"/>
          <a:ext cx="8621625" cy="1998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910">
                  <a:extLst>
                    <a:ext uri="{9D8B030D-6E8A-4147-A177-3AD203B41FA5}">
                      <a16:colId xmlns:a16="http://schemas.microsoft.com/office/drawing/2014/main" val="3269850717"/>
                    </a:ext>
                  </a:extLst>
                </a:gridCol>
                <a:gridCol w="1460740">
                  <a:extLst>
                    <a:ext uri="{9D8B030D-6E8A-4147-A177-3AD203B41FA5}">
                      <a16:colId xmlns:a16="http://schemas.microsoft.com/office/drawing/2014/main" val="3238308737"/>
                    </a:ext>
                  </a:extLst>
                </a:gridCol>
                <a:gridCol w="1724325">
                  <a:extLst>
                    <a:ext uri="{9D8B030D-6E8A-4147-A177-3AD203B41FA5}">
                      <a16:colId xmlns:a16="http://schemas.microsoft.com/office/drawing/2014/main" val="3952673311"/>
                    </a:ext>
                  </a:extLst>
                </a:gridCol>
                <a:gridCol w="1724325">
                  <a:extLst>
                    <a:ext uri="{9D8B030D-6E8A-4147-A177-3AD203B41FA5}">
                      <a16:colId xmlns:a16="http://schemas.microsoft.com/office/drawing/2014/main" val="2253302792"/>
                    </a:ext>
                  </a:extLst>
                </a:gridCol>
                <a:gridCol w="1724325">
                  <a:extLst>
                    <a:ext uri="{9D8B030D-6E8A-4147-A177-3AD203B41FA5}">
                      <a16:colId xmlns:a16="http://schemas.microsoft.com/office/drawing/2014/main" val="1265528084"/>
                    </a:ext>
                  </a:extLst>
                </a:gridCol>
              </a:tblGrid>
              <a:tr h="49966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–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AUC - ROC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17118"/>
                  </a:ext>
                </a:extLst>
              </a:tr>
              <a:tr h="499663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27876"/>
                  </a:ext>
                </a:extLst>
              </a:tr>
              <a:tr h="499663">
                <a:tc>
                  <a:txBody>
                    <a:bodyPr/>
                    <a:lstStyle/>
                    <a:p>
                      <a:r>
                        <a:rPr lang="en-US" dirty="0"/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069327"/>
                  </a:ext>
                </a:extLst>
              </a:tr>
              <a:tr h="499663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7551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286187-8780-C801-8F3D-A036F8BFD986}"/>
              </a:ext>
            </a:extLst>
          </p:cNvPr>
          <p:cNvSpPr txBox="1"/>
          <p:nvPr/>
        </p:nvSpPr>
        <p:spPr>
          <a:xfrm>
            <a:off x="3128512" y="3470721"/>
            <a:ext cx="593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(</a:t>
            </a:r>
            <a:r>
              <a:rPr lang="en-US" dirty="0" err="1"/>
              <a:t>is_canceled</a:t>
            </a:r>
            <a:r>
              <a:rPr 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1DC32D-8C59-31EA-7189-DBEE6F4AF6F4}"/>
              </a:ext>
            </a:extLst>
          </p:cNvPr>
          <p:cNvSpPr txBox="1"/>
          <p:nvPr/>
        </p:nvSpPr>
        <p:spPr>
          <a:xfrm>
            <a:off x="812319" y="4315085"/>
            <a:ext cx="10567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	</a:t>
            </a:r>
            <a:r>
              <a:rPr lang="vi-VN" i="1" dirty="0"/>
              <a:t>Logistic Regression đạt Recall &amp; F1-score cao nhất, phù hợp mục tiêu phát hiện hủy phòng; Random Forest có AUC–ROC cao hơn, thể hiện khả năng phân biệt tổng thể tốt.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8624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DAC4-CEDB-EFA1-1A6A-960AD837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D975-7440-6A69-A016-4C8EBDA4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239556" cy="94847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3.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đoán</a:t>
            </a:r>
            <a:r>
              <a:rPr lang="en-US" sz="3600" dirty="0"/>
              <a:t> </a:t>
            </a:r>
            <a:r>
              <a:rPr lang="en-US" sz="3600" dirty="0" err="1"/>
              <a:t>khả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r>
              <a:rPr lang="en-US" sz="3600" dirty="0"/>
              <a:t> </a:t>
            </a:r>
            <a:r>
              <a:rPr lang="en-US" sz="3600" dirty="0" err="1"/>
              <a:t>hủy</a:t>
            </a:r>
            <a:r>
              <a:rPr lang="en-US" sz="3600" dirty="0"/>
              <a:t> </a:t>
            </a:r>
            <a:r>
              <a:rPr lang="en-US" sz="3600" dirty="0" err="1"/>
              <a:t>phòng</a:t>
            </a:r>
            <a:r>
              <a:rPr lang="en-US" sz="3600" dirty="0"/>
              <a:t> –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loại</a:t>
            </a:r>
            <a:r>
              <a:rPr lang="en-US" sz="3600" dirty="0"/>
              <a:t> (Classification)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D75B3-6B30-8384-6197-E545BFB42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688600"/>
            <a:ext cx="11669626" cy="948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Câu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hỏi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i="1" dirty="0" err="1"/>
              <a:t>thể</a:t>
            </a:r>
            <a:r>
              <a:rPr lang="en-US" sz="2400" i="1" dirty="0"/>
              <a:t> </a:t>
            </a:r>
            <a:r>
              <a:rPr lang="en-US" sz="2400" i="1" dirty="0" err="1"/>
              <a:t>dự</a:t>
            </a:r>
            <a:r>
              <a:rPr lang="en-US" sz="2400" i="1" dirty="0"/>
              <a:t> </a:t>
            </a:r>
            <a:r>
              <a:rPr lang="en-US" sz="2400" i="1" dirty="0" err="1"/>
              <a:t>đoán</a:t>
            </a:r>
            <a:r>
              <a:rPr lang="en-US" sz="2400" i="1" dirty="0"/>
              <a:t> </a:t>
            </a:r>
            <a:r>
              <a:rPr lang="en-US" sz="2400" i="1" dirty="0" err="1"/>
              <a:t>khả</a:t>
            </a:r>
            <a:r>
              <a:rPr lang="en-US" sz="2400" i="1" dirty="0"/>
              <a:t> </a:t>
            </a:r>
            <a:r>
              <a:rPr lang="en-US" sz="2400" i="1" dirty="0" err="1"/>
              <a:t>năng</a:t>
            </a:r>
            <a:r>
              <a:rPr lang="en-US" sz="2400" i="1" dirty="0"/>
              <a:t> </a:t>
            </a:r>
            <a:r>
              <a:rPr lang="en-US" sz="2400" i="1" dirty="0" err="1"/>
              <a:t>hủy</a:t>
            </a:r>
            <a:r>
              <a:rPr lang="en-US" sz="2400" i="1" dirty="0"/>
              <a:t> </a:t>
            </a:r>
            <a:r>
              <a:rPr lang="en-US" sz="2400" i="1" dirty="0" err="1"/>
              <a:t>phòng</a:t>
            </a:r>
            <a:r>
              <a:rPr lang="en-US" sz="2400" i="1" dirty="0"/>
              <a:t> </a:t>
            </a:r>
            <a:r>
              <a:rPr lang="en-US" sz="2400" i="1" dirty="0" err="1"/>
              <a:t>từ</a:t>
            </a:r>
            <a:r>
              <a:rPr lang="en-US" sz="2400" i="1" dirty="0"/>
              <a:t> ban </a:t>
            </a:r>
            <a:r>
              <a:rPr lang="en-US" sz="2400" i="1" dirty="0" err="1"/>
              <a:t>đầu</a:t>
            </a:r>
            <a:r>
              <a:rPr lang="en-US" sz="2400" i="1" dirty="0"/>
              <a:t> hay </a:t>
            </a:r>
            <a:r>
              <a:rPr lang="en-US" sz="2400" i="1" dirty="0" err="1"/>
              <a:t>không</a:t>
            </a:r>
            <a:r>
              <a:rPr lang="en-US" sz="2400" i="1" dirty="0"/>
              <a:t>?</a:t>
            </a:r>
            <a:endParaRPr lang="en-US" sz="2200" i="1" dirty="0"/>
          </a:p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Biến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mục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tiêu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b="1" i="1" dirty="0" err="1"/>
              <a:t>is_canceled</a:t>
            </a:r>
            <a:r>
              <a:rPr lang="en-US" sz="2200" b="1" dirty="0"/>
              <a:t>.   		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Xử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lý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mất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cân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bằng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b="1" i="1" dirty="0" err="1"/>
              <a:t>class_weight</a:t>
            </a:r>
            <a:r>
              <a:rPr lang="en-US" sz="2200" b="1" i="1" dirty="0"/>
              <a:t> = balanced</a:t>
            </a:r>
            <a:r>
              <a:rPr lang="en-US" sz="2200" b="1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CBB483-8F3F-FE2F-CD0F-F56822D08F35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073E0-396D-72B4-7773-22DB876EC6C6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4DBD7-2722-18E9-FEC8-53AF0B645CAE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07941-FFD9-2B6B-53CA-CB22464A831A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F8F7D-59EA-8453-D75A-846096E6513C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&amp;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DC15A-C2EF-B74B-4803-FE2D212AB0E6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3. </a:t>
            </a:r>
            <a:r>
              <a:rPr lang="en-US" sz="1600" b="1" dirty="0" err="1"/>
              <a:t>Dự</a:t>
            </a:r>
            <a:r>
              <a:rPr lang="en-US" sz="1600" b="1" dirty="0"/>
              <a:t> </a:t>
            </a:r>
            <a:r>
              <a:rPr lang="en-US" sz="1600" b="1" dirty="0" err="1"/>
              <a:t>đoán</a:t>
            </a:r>
            <a:r>
              <a:rPr lang="en-US" sz="16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A3BFBD-388D-6A74-8286-F862B05E6485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C3A717-EF11-8FE6-8498-F88924AC3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505" y="1642091"/>
            <a:ext cx="3566160" cy="31514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F586D7-C4C6-DA8A-909F-BA8BCB00E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49" y="1519814"/>
            <a:ext cx="6675120" cy="45341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8A67B4A-985B-B8C8-E14C-5192E860F200}"/>
              </a:ext>
            </a:extLst>
          </p:cNvPr>
          <p:cNvSpPr txBox="1"/>
          <p:nvPr/>
        </p:nvSpPr>
        <p:spPr>
          <a:xfrm>
            <a:off x="7315200" y="4942048"/>
            <a:ext cx="4692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Random Forest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37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D46E-2216-D29B-69EF-73C38149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D171-7EF6-A98A-5FF4-2E4BA74B5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239556" cy="619944"/>
          </a:xfrm>
        </p:spPr>
        <p:txBody>
          <a:bodyPr>
            <a:norm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Hiểu</a:t>
            </a:r>
            <a:r>
              <a:rPr lang="en-US" sz="3600" dirty="0"/>
              <a:t> </a:t>
            </a:r>
            <a:r>
              <a:rPr lang="en-US" sz="3600" dirty="0" err="1"/>
              <a:t>khách</a:t>
            </a:r>
            <a:r>
              <a:rPr lang="en-US" sz="3600" dirty="0"/>
              <a:t> </a:t>
            </a:r>
            <a:r>
              <a:rPr lang="en-US" sz="3600" dirty="0" err="1"/>
              <a:t>hàng</a:t>
            </a:r>
            <a:r>
              <a:rPr lang="en-US" sz="3600" dirty="0"/>
              <a:t> –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cụm</a:t>
            </a:r>
            <a:r>
              <a:rPr lang="en-US" sz="3600" dirty="0"/>
              <a:t> &amp; </a:t>
            </a:r>
            <a:r>
              <a:rPr lang="en-US" sz="3600" dirty="0" err="1"/>
              <a:t>Luật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hợp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6F83-E287-96DB-1190-81994772F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688600"/>
            <a:ext cx="11669626" cy="948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Câu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hỏi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i="1" dirty="0" err="1"/>
              <a:t>Khách</a:t>
            </a:r>
            <a:r>
              <a:rPr lang="en-US" sz="2200" i="1" dirty="0"/>
              <a:t> </a:t>
            </a:r>
            <a:r>
              <a:rPr lang="en-US" sz="2200" i="1" dirty="0" err="1"/>
              <a:t>hàng</a:t>
            </a:r>
            <a:r>
              <a:rPr lang="en-US" sz="2200" i="1" dirty="0"/>
              <a:t> </a:t>
            </a:r>
            <a:r>
              <a:rPr lang="en-US" sz="2200" i="1" dirty="0" err="1"/>
              <a:t>được</a:t>
            </a:r>
            <a:r>
              <a:rPr lang="en-US" sz="2200" i="1" dirty="0"/>
              <a:t> </a:t>
            </a:r>
            <a:r>
              <a:rPr lang="en-US" sz="2200" i="1" dirty="0" err="1"/>
              <a:t>phân</a:t>
            </a:r>
            <a:r>
              <a:rPr lang="en-US" sz="2200" i="1" dirty="0"/>
              <a:t> </a:t>
            </a:r>
            <a:r>
              <a:rPr lang="en-US" sz="2200" i="1" dirty="0" err="1"/>
              <a:t>nhóm</a:t>
            </a:r>
            <a:r>
              <a:rPr lang="en-US" sz="2200" i="1" dirty="0"/>
              <a:t> </a:t>
            </a:r>
            <a:r>
              <a:rPr lang="en-US" sz="2200" i="1" dirty="0" err="1"/>
              <a:t>như</a:t>
            </a:r>
            <a:r>
              <a:rPr lang="en-US" sz="2200" i="1" dirty="0"/>
              <a:t> </a:t>
            </a:r>
            <a:r>
              <a:rPr lang="en-US" sz="2200" i="1" dirty="0" err="1"/>
              <a:t>thế</a:t>
            </a:r>
            <a:r>
              <a:rPr lang="en-US" sz="2200" i="1" dirty="0"/>
              <a:t> </a:t>
            </a:r>
            <a:r>
              <a:rPr lang="en-US" sz="2200" i="1" dirty="0" err="1"/>
              <a:t>nào</a:t>
            </a:r>
            <a:r>
              <a:rPr lang="en-US" sz="2200" i="1" dirty="0"/>
              <a:t>?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Mô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hình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b="1" dirty="0"/>
              <a:t>K-Means.   	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Số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cụm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b="1" dirty="0"/>
              <a:t>6 	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Đặc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trưng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lựa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chọn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i="1" dirty="0" err="1"/>
              <a:t>lead_time</a:t>
            </a:r>
            <a:r>
              <a:rPr lang="en-US" sz="2200" i="1" dirty="0"/>
              <a:t>, </a:t>
            </a:r>
            <a:r>
              <a:rPr lang="en-US" sz="2200" i="1" dirty="0" err="1"/>
              <a:t>total_stay</a:t>
            </a:r>
            <a:r>
              <a:rPr lang="en-US" sz="2200" i="1" dirty="0"/>
              <a:t>, </a:t>
            </a:r>
            <a:r>
              <a:rPr lang="en-US" sz="2200" i="1" dirty="0" err="1"/>
              <a:t>total_guest</a:t>
            </a:r>
            <a:r>
              <a:rPr lang="en-US" sz="2200" i="1" dirty="0"/>
              <a:t>, …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endParaRPr lang="en-US" sz="2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B6E261-AA2E-4EBD-585E-45DEF98C92BF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7AF10A-7579-E066-607D-0DC33E165ED2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4D584-E9E7-0EC9-3C82-CE5B16F54637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B859A-C4E2-6DB3-04A0-9F09D2E4BC73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F3BF4-D509-4713-371E-0A56C30F0C47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cụm</a:t>
            </a:r>
            <a:r>
              <a:rPr lang="en-US" b="1" dirty="0"/>
              <a:t> &amp; </a:t>
            </a:r>
            <a:r>
              <a:rPr lang="en-US" b="1" dirty="0" err="1"/>
              <a:t>Luật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E296A1-5BB1-BD4A-217C-B55BFAE0F328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19ED17-4457-969C-02EA-C340C3B62BD9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0D892-5F39-9602-6EAD-2A0D12D9EC34}"/>
              </a:ext>
            </a:extLst>
          </p:cNvPr>
          <p:cNvSpPr txBox="1"/>
          <p:nvPr/>
        </p:nvSpPr>
        <p:spPr>
          <a:xfrm>
            <a:off x="184030" y="559521"/>
            <a:ext cx="168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4.1.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cụm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BC9347-3634-E9D9-AF90-904A5ED4E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93" y="1866000"/>
            <a:ext cx="6035040" cy="2994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A06863-A6D3-C489-CD6F-060491F175C2}"/>
              </a:ext>
            </a:extLst>
          </p:cNvPr>
          <p:cNvSpPr txBox="1"/>
          <p:nvPr/>
        </p:nvSpPr>
        <p:spPr>
          <a:xfrm>
            <a:off x="883086" y="4957993"/>
            <a:ext cx="495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Minh </a:t>
            </a:r>
            <a:r>
              <a:rPr lang="en-US" i="1" dirty="0" err="1"/>
              <a:t>họa</a:t>
            </a:r>
            <a:r>
              <a:rPr lang="en-US" i="1" dirty="0"/>
              <a:t> </a:t>
            </a:r>
            <a:r>
              <a:rPr lang="en-US" i="1" dirty="0" err="1"/>
              <a:t>các</a:t>
            </a:r>
            <a:r>
              <a:rPr lang="en-US" i="1" dirty="0"/>
              <a:t> </a:t>
            </a:r>
            <a:r>
              <a:rPr lang="en-US" i="1" dirty="0" err="1"/>
              <a:t>cụm</a:t>
            </a:r>
            <a:r>
              <a:rPr lang="en-US" i="1" dirty="0"/>
              <a:t> </a:t>
            </a:r>
            <a:r>
              <a:rPr lang="en-US" i="1" dirty="0" err="1"/>
              <a:t>trên</a:t>
            </a:r>
            <a:r>
              <a:rPr lang="en-US" i="1" dirty="0"/>
              <a:t> scatterplot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769D87-F443-40B6-5E7A-62AA5114E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436" y="1768862"/>
            <a:ext cx="5197291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AF7EBB-9777-436B-2480-B62F62312765}"/>
              </a:ext>
            </a:extLst>
          </p:cNvPr>
          <p:cNvSpPr txBox="1"/>
          <p:nvPr/>
        </p:nvSpPr>
        <p:spPr>
          <a:xfrm>
            <a:off x="6883274" y="5228692"/>
            <a:ext cx="495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Dùng</a:t>
            </a:r>
            <a:r>
              <a:rPr lang="en-US" i="1" dirty="0"/>
              <a:t> Elbow </a:t>
            </a:r>
            <a:r>
              <a:rPr lang="en-US" i="1" dirty="0" err="1"/>
              <a:t>để</a:t>
            </a:r>
            <a:r>
              <a:rPr lang="en-US" i="1" dirty="0"/>
              <a:t> </a:t>
            </a:r>
            <a:r>
              <a:rPr lang="en-US" i="1" dirty="0" err="1"/>
              <a:t>xác</a:t>
            </a:r>
            <a:r>
              <a:rPr lang="en-US" i="1" dirty="0"/>
              <a:t> </a:t>
            </a:r>
            <a:r>
              <a:rPr lang="en-US" i="1" dirty="0" err="1"/>
              <a:t>định</a:t>
            </a:r>
            <a:r>
              <a:rPr lang="en-US" i="1" dirty="0"/>
              <a:t> k</a:t>
            </a:r>
          </a:p>
        </p:txBody>
      </p:sp>
    </p:spTree>
    <p:extLst>
      <p:ext uri="{BB962C8B-B14F-4D97-AF65-F5344CB8AC3E}">
        <p14:creationId xmlns:p14="http://schemas.microsoft.com/office/powerpoint/2010/main" val="341882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329A-FB92-E4AD-1220-FAFA93C4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C416-A5C4-6B5E-1858-80625F87F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239556" cy="619944"/>
          </a:xfrm>
        </p:spPr>
        <p:txBody>
          <a:bodyPr>
            <a:norm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Hiểu</a:t>
            </a:r>
            <a:r>
              <a:rPr lang="en-US" sz="3600" dirty="0"/>
              <a:t> </a:t>
            </a:r>
            <a:r>
              <a:rPr lang="en-US" sz="3600" dirty="0" err="1"/>
              <a:t>khách</a:t>
            </a:r>
            <a:r>
              <a:rPr lang="en-US" sz="3600" dirty="0"/>
              <a:t> </a:t>
            </a:r>
            <a:r>
              <a:rPr lang="en-US" sz="3600" dirty="0" err="1"/>
              <a:t>hàng</a:t>
            </a:r>
            <a:r>
              <a:rPr lang="en-US" sz="3600" dirty="0"/>
              <a:t> –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cụm</a:t>
            </a:r>
            <a:r>
              <a:rPr lang="en-US" sz="3600" dirty="0"/>
              <a:t> &amp; </a:t>
            </a:r>
            <a:r>
              <a:rPr lang="en-US" sz="3600" dirty="0" err="1"/>
              <a:t>Luật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hợp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F4CCF-25BB-D361-C783-A3EA6402A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030" y="957386"/>
            <a:ext cx="9316277" cy="948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Phân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khúc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khách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hàng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  <a:endParaRPr lang="en-US" sz="2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73D9F-9572-EF44-B51F-EE820BEFD32D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AE163-1BB5-CDCD-2F64-920C38E7233B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BE41A-4075-93CF-C20F-E575CC1A84E1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D658CF-45D4-E56F-D088-CBF02892433F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E171F-C929-8D03-449F-640A2A13CB55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cụm</a:t>
            </a:r>
            <a:r>
              <a:rPr lang="en-US" b="1" dirty="0"/>
              <a:t> &amp; </a:t>
            </a:r>
            <a:r>
              <a:rPr lang="en-US" b="1" dirty="0" err="1"/>
              <a:t>Luật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BFBCA-882E-0058-67E8-8FD3B6F97B56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FA616-5F74-EB48-7F4D-46F273766997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EC0B4-2612-300B-6C2D-4F2EAFF94ADE}"/>
              </a:ext>
            </a:extLst>
          </p:cNvPr>
          <p:cNvSpPr txBox="1"/>
          <p:nvPr/>
        </p:nvSpPr>
        <p:spPr>
          <a:xfrm>
            <a:off x="184030" y="559521"/>
            <a:ext cx="168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4.1.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cụm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D34C3B-0A25-124C-DBCE-B148369DB146}"/>
              </a:ext>
            </a:extLst>
          </p:cNvPr>
          <p:cNvSpPr txBox="1"/>
          <p:nvPr/>
        </p:nvSpPr>
        <p:spPr>
          <a:xfrm>
            <a:off x="680206" y="1431624"/>
            <a:ext cx="93162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Khách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công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tác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ngắn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ngày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ổn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định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quanh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năm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lưu</a:t>
            </a:r>
            <a:r>
              <a:rPr lang="en-US" b="1" dirty="0"/>
              <a:t> </a:t>
            </a:r>
            <a:r>
              <a:rPr lang="en-US" b="1" dirty="0" err="1"/>
              <a:t>trú</a:t>
            </a:r>
            <a:r>
              <a:rPr lang="en-US" b="1" dirty="0"/>
              <a:t> </a:t>
            </a:r>
            <a:r>
              <a:rPr lang="en-US" b="1" dirty="0" err="1"/>
              <a:t>ngắn</a:t>
            </a:r>
            <a:r>
              <a:rPr lang="en-US" b="1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b="1" dirty="0" err="1"/>
              <a:t>Ít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ảnh</a:t>
            </a:r>
            <a:r>
              <a:rPr lang="en-US" b="1" dirty="0"/>
              <a:t> </a:t>
            </a:r>
            <a:r>
              <a:rPr lang="en-US" b="1" dirty="0" err="1"/>
              <a:t>hưởng</a:t>
            </a:r>
            <a:r>
              <a:rPr lang="en-US" b="1" dirty="0"/>
              <a:t> </a:t>
            </a:r>
            <a:r>
              <a:rPr lang="en-US" b="1" dirty="0" err="1"/>
              <a:t>bởi</a:t>
            </a:r>
            <a:r>
              <a:rPr lang="en-US" b="1" dirty="0"/>
              <a:t> </a:t>
            </a:r>
            <a:r>
              <a:rPr lang="en-US" b="1" dirty="0" err="1"/>
              <a:t>mùa</a:t>
            </a:r>
            <a:r>
              <a:rPr lang="en-US" b="1" dirty="0"/>
              <a:t> </a:t>
            </a:r>
            <a:r>
              <a:rPr lang="en-US" b="1" dirty="0" err="1"/>
              <a:t>vụ</a:t>
            </a:r>
            <a:endParaRPr lang="en-US" b="1" dirty="0"/>
          </a:p>
          <a:p>
            <a:r>
              <a:rPr lang="en-US" b="1" dirty="0" err="1">
                <a:solidFill>
                  <a:srgbClr val="FF0000"/>
                </a:solidFill>
              </a:rPr>
              <a:t>Khách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theo</a:t>
            </a:r>
            <a:r>
              <a:rPr lang="en-US" b="1" dirty="0">
                <a:solidFill>
                  <a:srgbClr val="FF0000"/>
                </a:solidFill>
              </a:rPr>
              <a:t> tour </a:t>
            </a:r>
            <a:r>
              <a:rPr lang="en-US" b="1" dirty="0" err="1">
                <a:solidFill>
                  <a:srgbClr val="FF0000"/>
                </a:solidFill>
              </a:rPr>
              <a:t>đặt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sớm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tránh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mùa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đông</a:t>
            </a:r>
            <a:endParaRPr lang="vi-VN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đặt</a:t>
            </a:r>
            <a:r>
              <a:rPr lang="en-US" b="1" dirty="0"/>
              <a:t> </a:t>
            </a:r>
            <a:r>
              <a:rPr lang="en-US" b="1" dirty="0" err="1"/>
              <a:t>trước</a:t>
            </a:r>
            <a:r>
              <a:rPr lang="en-US" b="1" dirty="0"/>
              <a:t> </a:t>
            </a:r>
            <a:r>
              <a:rPr lang="en-US" b="1" dirty="0" err="1"/>
              <a:t>dài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b="1" dirty="0" err="1"/>
              <a:t>Tránh</a:t>
            </a:r>
            <a:r>
              <a:rPr lang="en-US" b="1" dirty="0"/>
              <a:t> </a:t>
            </a:r>
            <a:r>
              <a:rPr lang="en-US" b="1" dirty="0" err="1"/>
              <a:t>mùa</a:t>
            </a:r>
            <a:r>
              <a:rPr lang="en-US" b="1" dirty="0"/>
              <a:t> </a:t>
            </a:r>
            <a:r>
              <a:rPr lang="en-US" b="1" dirty="0" err="1"/>
              <a:t>đông</a:t>
            </a:r>
            <a:endParaRPr lang="en-US" b="1" dirty="0"/>
          </a:p>
          <a:p>
            <a:r>
              <a:rPr lang="en-US" b="1" dirty="0" err="1">
                <a:solidFill>
                  <a:srgbClr val="FF0000"/>
                </a:solidFill>
              </a:rPr>
              <a:t>Khách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đại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trà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nhạy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với</a:t>
            </a:r>
            <a:r>
              <a:rPr lang="en-US" b="1" dirty="0">
                <a:solidFill>
                  <a:srgbClr val="FF0000"/>
                </a:solidFill>
              </a:rPr>
              <a:t> marketing </a:t>
            </a:r>
            <a:r>
              <a:rPr lang="en-US" b="1" dirty="0" err="1">
                <a:solidFill>
                  <a:srgbClr val="FF0000"/>
                </a:solidFill>
              </a:rPr>
              <a:t>mùa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vụ</a:t>
            </a:r>
            <a:endParaRPr lang="vi-VN" b="1" dirty="0">
              <a:solidFill>
                <a:srgbClr val="FF0000"/>
              </a:solidFill>
            </a:endParaRPr>
          </a:p>
          <a:p>
            <a:r>
              <a:rPr lang="en-US" b="1" dirty="0"/>
              <a:t>- </a:t>
            </a:r>
            <a:r>
              <a:rPr lang="en-US" b="1" dirty="0" err="1"/>
              <a:t>Đặt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mùa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thấp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endParaRPr lang="en-US" b="1" dirty="0"/>
          </a:p>
          <a:p>
            <a:r>
              <a:rPr lang="en-US" b="1" dirty="0" err="1">
                <a:solidFill>
                  <a:srgbClr val="FF0000"/>
                </a:solidFill>
              </a:rPr>
              <a:t>Khách</a:t>
            </a:r>
            <a:r>
              <a:rPr lang="en-US" b="1" dirty="0">
                <a:solidFill>
                  <a:srgbClr val="FF0000"/>
                </a:solidFill>
              </a:rPr>
              <a:t> du </a:t>
            </a:r>
            <a:r>
              <a:rPr lang="en-US" b="1" dirty="0" err="1">
                <a:solidFill>
                  <a:srgbClr val="FF0000"/>
                </a:solidFill>
              </a:rPr>
              <a:t>lịch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cao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điểm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-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trung</a:t>
            </a:r>
            <a:r>
              <a:rPr lang="en-US" b="1" dirty="0"/>
              <a:t> du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r>
              <a:rPr lang="en-US" b="1" dirty="0"/>
              <a:t> </a:t>
            </a:r>
            <a:r>
              <a:rPr lang="en-US" b="1" dirty="0" err="1"/>
              <a:t>hè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lễ</a:t>
            </a:r>
            <a:r>
              <a:rPr lang="en-US" b="1" dirty="0"/>
              <a:t> </a:t>
            </a:r>
          </a:p>
          <a:p>
            <a:r>
              <a:rPr lang="en-US" b="1" dirty="0">
                <a:solidFill>
                  <a:srgbClr val="FF0000"/>
                </a:solidFill>
              </a:rPr>
              <a:t>Gia </a:t>
            </a:r>
            <a:r>
              <a:rPr lang="en-US" b="1" dirty="0" err="1">
                <a:solidFill>
                  <a:srgbClr val="FF0000"/>
                </a:solidFill>
              </a:rPr>
              <a:t>đình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nhóm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nhỏ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nghỉ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hè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 err="1"/>
              <a:t>Gắn</a:t>
            </a:r>
            <a:r>
              <a:rPr lang="en-US" b="1" dirty="0"/>
              <a:t> </a:t>
            </a:r>
            <a:r>
              <a:rPr lang="en-US" b="1" dirty="0" err="1"/>
              <a:t>chặt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nghỉ</a:t>
            </a:r>
            <a:r>
              <a:rPr lang="en-US" b="1" dirty="0"/>
              <a:t> </a:t>
            </a:r>
            <a:r>
              <a:rPr lang="en-US" b="1" dirty="0" err="1"/>
              <a:t>hè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lưu</a:t>
            </a:r>
            <a:r>
              <a:rPr lang="en-US" b="1" dirty="0"/>
              <a:t> </a:t>
            </a:r>
            <a:r>
              <a:rPr lang="en-US" b="1" dirty="0" err="1"/>
              <a:t>trú</a:t>
            </a:r>
            <a:r>
              <a:rPr lang="en-US" b="1" dirty="0"/>
              <a:t> </a:t>
            </a:r>
            <a:r>
              <a:rPr lang="en-US" b="1" dirty="0" err="1"/>
              <a:t>dài</a:t>
            </a:r>
            <a:r>
              <a:rPr lang="en-US" b="1" dirty="0"/>
              <a:t> </a:t>
            </a:r>
            <a:r>
              <a:rPr lang="en-US" b="1" dirty="0" err="1"/>
              <a:t>hơn</a:t>
            </a:r>
            <a:r>
              <a:rPr lang="en-US" b="1" dirty="0"/>
              <a:t> </a:t>
            </a:r>
            <a:r>
              <a:rPr lang="en-US" b="1" dirty="0" err="1"/>
              <a:t>trung</a:t>
            </a:r>
            <a:r>
              <a:rPr lang="en-US" b="1" dirty="0"/>
              <a:t> </a:t>
            </a:r>
            <a:r>
              <a:rPr lang="en-US" b="1" dirty="0" err="1"/>
              <a:t>bình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Linh </a:t>
            </a:r>
            <a:r>
              <a:rPr lang="en-US" b="1" dirty="0" err="1">
                <a:solidFill>
                  <a:srgbClr val="FF0000"/>
                </a:solidFill>
              </a:rPr>
              <a:t>hoạt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lấp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đầy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mùa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thấp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điểm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-     Linh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endParaRPr lang="en-US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469387-BCF0-5360-9056-44DCE47E8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11" y="1530496"/>
            <a:ext cx="6258734" cy="37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14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163E-1DE3-FB92-764B-498467D5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76936-5D1B-6ECB-090F-D90F3723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239556" cy="619944"/>
          </a:xfrm>
        </p:spPr>
        <p:txBody>
          <a:bodyPr>
            <a:norm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Hiểu</a:t>
            </a:r>
            <a:r>
              <a:rPr lang="en-US" sz="3600" dirty="0"/>
              <a:t> </a:t>
            </a:r>
            <a:r>
              <a:rPr lang="en-US" sz="3600" dirty="0" err="1"/>
              <a:t>khách</a:t>
            </a:r>
            <a:r>
              <a:rPr lang="en-US" sz="3600" dirty="0"/>
              <a:t> </a:t>
            </a:r>
            <a:r>
              <a:rPr lang="en-US" sz="3600" dirty="0" err="1"/>
              <a:t>hàng</a:t>
            </a:r>
            <a:r>
              <a:rPr lang="en-US" sz="3600" dirty="0"/>
              <a:t> –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cụm</a:t>
            </a:r>
            <a:r>
              <a:rPr lang="en-US" sz="3600" dirty="0"/>
              <a:t> &amp; </a:t>
            </a:r>
            <a:r>
              <a:rPr lang="en-US" sz="3600" dirty="0" err="1"/>
              <a:t>Luật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hợp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932BA-E60A-238E-A5CB-32A4DCA83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688600"/>
            <a:ext cx="11669626" cy="948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Câu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hỏi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i="1" dirty="0" err="1"/>
              <a:t>Loại</a:t>
            </a:r>
            <a:r>
              <a:rPr lang="en-US" sz="2200" i="1" dirty="0"/>
              <a:t> </a:t>
            </a:r>
            <a:r>
              <a:rPr lang="en-US" sz="2200" i="1" dirty="0" err="1"/>
              <a:t>dịch</a:t>
            </a:r>
            <a:r>
              <a:rPr lang="en-US" sz="2200" i="1" dirty="0"/>
              <a:t> </a:t>
            </a:r>
            <a:r>
              <a:rPr lang="en-US" sz="2200" i="1" dirty="0" err="1"/>
              <a:t>vụ</a:t>
            </a:r>
            <a:r>
              <a:rPr lang="en-US" sz="2200" i="1" dirty="0"/>
              <a:t> </a:t>
            </a:r>
            <a:r>
              <a:rPr lang="en-US" sz="2200" i="1" dirty="0" err="1"/>
              <a:t>và</a:t>
            </a:r>
            <a:r>
              <a:rPr lang="en-US" sz="2200" i="1" dirty="0"/>
              <a:t> </a:t>
            </a:r>
            <a:r>
              <a:rPr lang="en-US" sz="2200" i="1" dirty="0" err="1"/>
              <a:t>phòng</a:t>
            </a:r>
            <a:r>
              <a:rPr lang="en-US" sz="2200" i="1" dirty="0"/>
              <a:t> </a:t>
            </a:r>
            <a:r>
              <a:rPr lang="en-US" sz="2200" i="1" dirty="0" err="1"/>
              <a:t>nào</a:t>
            </a:r>
            <a:r>
              <a:rPr lang="en-US" sz="2200" i="1" dirty="0"/>
              <a:t> </a:t>
            </a:r>
            <a:r>
              <a:rPr lang="en-US" sz="2200" i="1" dirty="0" err="1"/>
              <a:t>có</a:t>
            </a:r>
            <a:r>
              <a:rPr lang="en-US" sz="2200" i="1" dirty="0"/>
              <a:t> </a:t>
            </a:r>
            <a:r>
              <a:rPr lang="en-US" sz="2200" i="1" dirty="0" err="1"/>
              <a:t>thể</a:t>
            </a:r>
            <a:r>
              <a:rPr lang="en-US" sz="2200" i="1" dirty="0"/>
              <a:t> </a:t>
            </a:r>
            <a:r>
              <a:rPr lang="en-US" sz="2200" i="1" dirty="0" err="1"/>
              <a:t>sinh</a:t>
            </a:r>
            <a:r>
              <a:rPr lang="en-US" sz="2200" i="1" dirty="0"/>
              <a:t> </a:t>
            </a:r>
            <a:r>
              <a:rPr lang="en-US" sz="2200" i="1" dirty="0" err="1"/>
              <a:t>luật</a:t>
            </a:r>
            <a:r>
              <a:rPr lang="en-US" sz="2200" i="1" dirty="0"/>
              <a:t> </a:t>
            </a:r>
            <a:r>
              <a:rPr lang="en-US" sz="2200" i="1" dirty="0" err="1"/>
              <a:t>mạnh</a:t>
            </a:r>
            <a:r>
              <a:rPr lang="en-US" sz="2200" i="1" dirty="0"/>
              <a:t>?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Mô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hình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b="1" dirty="0" err="1"/>
              <a:t>Apriori</a:t>
            </a:r>
            <a:r>
              <a:rPr lang="en-US" sz="2200" b="1" dirty="0"/>
              <a:t>   					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Số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luật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mạnh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b="1" dirty="0"/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D453A-84BD-0E16-2864-94C60FA12373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D2C6B-5E9F-3B02-BE1C-C83F2E354F88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674EB-5243-AE23-D780-0EDD05DE0EEF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16C67-0EDC-2355-8808-26DD9FEF45B5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CDAE70-3EE6-79F7-FF77-F08809AC378A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cụm</a:t>
            </a:r>
            <a:r>
              <a:rPr lang="en-US" b="1" dirty="0"/>
              <a:t> &amp; </a:t>
            </a:r>
            <a:r>
              <a:rPr lang="en-US" b="1" dirty="0" err="1"/>
              <a:t>Luật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D4C0E-2778-D898-70D7-BE922566A8E0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004C6-8F18-D8B7-0FF7-7A802B0B864D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F664D-E9E0-9A5B-47FA-DA75442801C0}"/>
              </a:ext>
            </a:extLst>
          </p:cNvPr>
          <p:cNvSpPr txBox="1"/>
          <p:nvPr/>
        </p:nvSpPr>
        <p:spPr>
          <a:xfrm>
            <a:off x="184029" y="559521"/>
            <a:ext cx="1916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4.2. </a:t>
            </a:r>
            <a:r>
              <a:rPr lang="en-US" b="1" dirty="0" err="1"/>
              <a:t>Luật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BF025F-657E-AF29-3895-66B41E2A7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44" y="1655433"/>
            <a:ext cx="6675120" cy="44351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696590-B312-E703-5503-E3FA8E56C339}"/>
              </a:ext>
            </a:extLst>
          </p:cNvPr>
          <p:cNvSpPr txBox="1"/>
          <p:nvPr/>
        </p:nvSpPr>
        <p:spPr>
          <a:xfrm>
            <a:off x="7530859" y="2828835"/>
            <a:ext cx="4477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i="1" dirty="0"/>
              <a:t>Loại khách sạn, loại phòng và gói ăn có mối liên hệ chặt chẽ, hình thành các “combo đặt phòng” đặc trưng giữa City Hotel và Resort Hotel.</a:t>
            </a:r>
            <a:endParaRPr lang="en-US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E659B0-FB65-0E0A-CB02-4ADB2C151363}"/>
              </a:ext>
            </a:extLst>
          </p:cNvPr>
          <p:cNvSpPr txBox="1"/>
          <p:nvPr/>
        </p:nvSpPr>
        <p:spPr>
          <a:xfrm>
            <a:off x="6663905" y="1480943"/>
            <a:ext cx="428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 Hotel = City Hotel, Meal = SC -&gt; Room = A}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21C550-08E0-B24E-D0A7-C6BA0DC7AFD6}"/>
              </a:ext>
            </a:extLst>
          </p:cNvPr>
          <p:cNvSpPr txBox="1"/>
          <p:nvPr/>
        </p:nvSpPr>
        <p:spPr>
          <a:xfrm>
            <a:off x="6776048" y="1953529"/>
            <a:ext cx="4580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 Hotel = Resort Hotel, Meal = BB -&gt; Room = E}</a:t>
            </a:r>
          </a:p>
        </p:txBody>
      </p:sp>
    </p:spTree>
    <p:extLst>
      <p:ext uri="{BB962C8B-B14F-4D97-AF65-F5344CB8AC3E}">
        <p14:creationId xmlns:p14="http://schemas.microsoft.com/office/powerpoint/2010/main" val="2265867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931C-0BE4-41E3-16EF-9FFD6A7D3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F86E-2AAC-B97C-196E-DF093A3C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239556" cy="619944"/>
          </a:xfrm>
        </p:spPr>
        <p:txBody>
          <a:bodyPr>
            <a:normAutofit/>
          </a:bodyPr>
          <a:lstStyle/>
          <a:p>
            <a:r>
              <a:rPr lang="en-US" sz="3600" dirty="0"/>
              <a:t>5. </a:t>
            </a:r>
            <a:r>
              <a:rPr lang="en-US" sz="3600" dirty="0" err="1"/>
              <a:t>Góc</a:t>
            </a:r>
            <a:r>
              <a:rPr lang="en-US" sz="3600" dirty="0"/>
              <a:t> </a:t>
            </a:r>
            <a:r>
              <a:rPr lang="en-US" sz="3600" dirty="0" err="1"/>
              <a:t>nhìn</a:t>
            </a:r>
            <a:r>
              <a:rPr lang="en-US" sz="3600" dirty="0"/>
              <a:t> </a:t>
            </a:r>
            <a:r>
              <a:rPr lang="en-US" sz="3600" dirty="0" err="1"/>
              <a:t>thời</a:t>
            </a:r>
            <a:r>
              <a:rPr lang="en-US" sz="3600" dirty="0"/>
              <a:t> </a:t>
            </a:r>
            <a:r>
              <a:rPr lang="en-US" sz="3600" dirty="0" err="1"/>
              <a:t>gian</a:t>
            </a:r>
            <a:r>
              <a:rPr lang="en-US" sz="3600" dirty="0"/>
              <a:t> – </a:t>
            </a:r>
            <a:r>
              <a:rPr lang="en-US" sz="3600" dirty="0" err="1"/>
              <a:t>Chuỗi</a:t>
            </a:r>
            <a:r>
              <a:rPr lang="en-US" sz="3600" dirty="0"/>
              <a:t> </a:t>
            </a:r>
            <a:r>
              <a:rPr lang="en-US" sz="3600" dirty="0" err="1"/>
              <a:t>thời</a:t>
            </a:r>
            <a:r>
              <a:rPr lang="en-US" sz="3600" dirty="0"/>
              <a:t> </a:t>
            </a:r>
            <a:r>
              <a:rPr lang="en-US" sz="3600" dirty="0" err="1"/>
              <a:t>gian</a:t>
            </a:r>
            <a:r>
              <a:rPr lang="en-US" sz="36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F2860-FB9A-2D98-EABD-A68FACD95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44" y="688600"/>
            <a:ext cx="11669626" cy="948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Câu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hỏi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i="1" dirty="0" err="1"/>
              <a:t>Dự</a:t>
            </a:r>
            <a:r>
              <a:rPr lang="en-US" sz="2200" i="1" dirty="0"/>
              <a:t> </a:t>
            </a:r>
            <a:r>
              <a:rPr lang="en-US" sz="2200" i="1" dirty="0" err="1"/>
              <a:t>đoán</a:t>
            </a:r>
            <a:r>
              <a:rPr lang="en-US" sz="2200" i="1" dirty="0"/>
              <a:t> </a:t>
            </a:r>
            <a:r>
              <a:rPr lang="en-US" sz="2200" i="1" dirty="0" err="1"/>
              <a:t>nhu</a:t>
            </a:r>
            <a:r>
              <a:rPr lang="en-US" sz="2200" i="1" dirty="0"/>
              <a:t> </a:t>
            </a:r>
            <a:r>
              <a:rPr lang="en-US" sz="2200" i="1" dirty="0" err="1"/>
              <a:t>cầu</a:t>
            </a:r>
            <a:r>
              <a:rPr lang="en-US" sz="2200" i="1" dirty="0"/>
              <a:t> </a:t>
            </a:r>
            <a:r>
              <a:rPr lang="en-US" sz="2200" i="1" dirty="0" err="1"/>
              <a:t>đặt</a:t>
            </a:r>
            <a:r>
              <a:rPr lang="en-US" sz="2200" i="1" dirty="0"/>
              <a:t> </a:t>
            </a:r>
            <a:r>
              <a:rPr lang="en-US" sz="2200" i="1" dirty="0" err="1"/>
              <a:t>phòng</a:t>
            </a:r>
            <a:r>
              <a:rPr lang="en-US" sz="2200" i="1" dirty="0"/>
              <a:t> </a:t>
            </a:r>
            <a:r>
              <a:rPr lang="en-US" sz="2200" i="1" dirty="0" err="1"/>
              <a:t>trong</a:t>
            </a:r>
            <a:r>
              <a:rPr lang="en-US" sz="2200" i="1" dirty="0"/>
              <a:t> </a:t>
            </a:r>
            <a:r>
              <a:rPr lang="en-US" sz="2200" i="1" dirty="0" err="1"/>
              <a:t>tương</a:t>
            </a:r>
            <a:r>
              <a:rPr lang="en-US" sz="2200" i="1" dirty="0"/>
              <a:t> lai?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Mô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hình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b="1" dirty="0"/>
              <a:t>SARIMAX					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- 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Đánh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5">
                    <a:lumMod val="75000"/>
                  </a:schemeClr>
                </a:solidFill>
              </a:rPr>
              <a:t>giá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2200" b="1" dirty="0"/>
              <a:t>RMSE, MAE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887EBF-CF5F-9EEA-66B9-3EA2EC188D60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64204-4A9D-B1FE-E85E-DE616B212B2C}"/>
              </a:ext>
            </a:extLst>
          </p:cNvPr>
          <p:cNvSpPr txBox="1"/>
          <p:nvPr/>
        </p:nvSpPr>
        <p:spPr>
          <a:xfrm>
            <a:off x="9739873" y="6370865"/>
            <a:ext cx="245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&amp;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05E0F9-278E-1EFF-E8B7-C85B9E9EB33F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1E583-7034-177E-8B98-F2800138EE96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</a:t>
            </a:r>
            <a:r>
              <a:rPr lang="en-US" b="1" dirty="0" err="1"/>
              <a:t>Chuỗi</a:t>
            </a:r>
            <a:r>
              <a:rPr lang="en-US" b="1" dirty="0"/>
              <a:t>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C2A45-6936-8AD2-9F5F-24BFFFB49932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&amp;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C574E-F562-8F08-B854-38CE25D6B179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778551-A4E0-B771-DF51-409311D3EDBB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DEF683-5C7A-13AA-F0FC-0465F0423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44" y="1734393"/>
            <a:ext cx="5212080" cy="19813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316A95-98B7-80DB-D582-7E10DEE5C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105" y="1640227"/>
            <a:ext cx="6126480" cy="30632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4315FE-57DA-A52F-F95C-EC158E78CB7F}"/>
              </a:ext>
            </a:extLst>
          </p:cNvPr>
          <p:cNvSpPr txBox="1"/>
          <p:nvPr/>
        </p:nvSpPr>
        <p:spPr>
          <a:xfrm>
            <a:off x="261187" y="5299471"/>
            <a:ext cx="11669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	</a:t>
            </a:r>
            <a:r>
              <a:rPr lang="vi-VN" i="1" dirty="0"/>
              <a:t>Nhu cầu đặt phòng có tính mùa vụ rõ rệt theo tháng và có thể dự báo trong ngắn hạn, nhưng mức độ bất định tăng nhanh theo thời gian.</a:t>
            </a:r>
            <a:endParaRPr lang="en-US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306E08-AC3B-C920-020B-246ED22EEE3E}"/>
              </a:ext>
            </a:extLst>
          </p:cNvPr>
          <p:cNvSpPr txBox="1"/>
          <p:nvPr/>
        </p:nvSpPr>
        <p:spPr>
          <a:xfrm>
            <a:off x="804651" y="3839952"/>
            <a:ext cx="5095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Dự</a:t>
            </a:r>
            <a:r>
              <a:rPr lang="en-US" i="1" dirty="0"/>
              <a:t> </a:t>
            </a:r>
            <a:r>
              <a:rPr lang="en-US" i="1" dirty="0" err="1"/>
              <a:t>báo</a:t>
            </a:r>
            <a:r>
              <a:rPr lang="en-US" i="1" dirty="0"/>
              <a:t> </a:t>
            </a:r>
            <a:r>
              <a:rPr lang="en-US" i="1" dirty="0" err="1"/>
              <a:t>nhu</a:t>
            </a:r>
            <a:r>
              <a:rPr lang="en-US" i="1" dirty="0"/>
              <a:t> </a:t>
            </a:r>
            <a:r>
              <a:rPr lang="en-US" i="1" dirty="0" err="1"/>
              <a:t>cầu</a:t>
            </a:r>
            <a:r>
              <a:rPr lang="en-US" i="1" dirty="0"/>
              <a:t> </a:t>
            </a:r>
            <a:r>
              <a:rPr lang="en-US" i="1" dirty="0" err="1"/>
              <a:t>khách</a:t>
            </a:r>
            <a:r>
              <a:rPr lang="en-US" i="1" dirty="0"/>
              <a:t> </a:t>
            </a:r>
            <a:r>
              <a:rPr lang="en-US" i="1" dirty="0" err="1"/>
              <a:t>sạn</a:t>
            </a:r>
            <a:r>
              <a:rPr lang="en-US" i="1" dirty="0"/>
              <a:t> </a:t>
            </a:r>
            <a:r>
              <a:rPr lang="en-US" i="1" dirty="0" err="1"/>
              <a:t>trong</a:t>
            </a:r>
            <a:r>
              <a:rPr lang="en-US" i="1" dirty="0"/>
              <a:t> 90 </a:t>
            </a:r>
            <a:r>
              <a:rPr lang="en-US" i="1" dirty="0" err="1"/>
              <a:t>ngày</a:t>
            </a:r>
            <a:r>
              <a:rPr lang="en-US" i="1" dirty="0"/>
              <a:t> </a:t>
            </a:r>
            <a:r>
              <a:rPr lang="en-US" i="1" dirty="0" err="1"/>
              <a:t>tới</a:t>
            </a:r>
            <a:endParaRPr lang="en-US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FB1CE-4EA9-9AB9-C8BF-01A4D422180C}"/>
              </a:ext>
            </a:extLst>
          </p:cNvPr>
          <p:cNvSpPr txBox="1"/>
          <p:nvPr/>
        </p:nvSpPr>
        <p:spPr>
          <a:xfrm>
            <a:off x="338344" y="4402295"/>
            <a:ext cx="2070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RMSE: </a:t>
            </a:r>
            <a:r>
              <a:rPr lang="en-US" b="1" dirty="0"/>
              <a:t>385.31</a:t>
            </a:r>
            <a:r>
              <a:rPr lang="en-US" dirty="0"/>
              <a:t> </a:t>
            </a:r>
          </a:p>
          <a:p>
            <a:r>
              <a:rPr lang="en-US" dirty="0"/>
              <a:t>- MAPE: </a:t>
            </a:r>
            <a:r>
              <a:rPr lang="en-US" b="1" dirty="0"/>
              <a:t>185%</a:t>
            </a:r>
          </a:p>
        </p:txBody>
      </p:sp>
    </p:spTree>
    <p:extLst>
      <p:ext uri="{BB962C8B-B14F-4D97-AF65-F5344CB8AC3E}">
        <p14:creationId xmlns:p14="http://schemas.microsoft.com/office/powerpoint/2010/main" val="2840535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B475D-F535-3060-1E09-A1B3CD5B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2FC7-BC44-9914-0C8D-11C80CFB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239556" cy="619944"/>
          </a:xfrm>
        </p:spPr>
        <p:txBody>
          <a:bodyPr>
            <a:normAutofit/>
          </a:bodyPr>
          <a:lstStyle/>
          <a:p>
            <a:r>
              <a:rPr lang="en-US" sz="3600" dirty="0"/>
              <a:t>6. </a:t>
            </a:r>
            <a:r>
              <a:rPr lang="en-US" sz="3600" dirty="0" err="1"/>
              <a:t>Tổng</a:t>
            </a:r>
            <a:r>
              <a:rPr lang="en-US" sz="3600" dirty="0"/>
              <a:t> </a:t>
            </a:r>
            <a:r>
              <a:rPr lang="en-US" sz="3600" dirty="0" err="1"/>
              <a:t>hợp</a:t>
            </a:r>
            <a:r>
              <a:rPr lang="en-US" sz="3600" dirty="0"/>
              <a:t> &amp; </a:t>
            </a:r>
            <a:r>
              <a:rPr lang="en-US" sz="3600" dirty="0" err="1"/>
              <a:t>Ứng</a:t>
            </a:r>
            <a:r>
              <a:rPr lang="en-US" sz="3600" dirty="0"/>
              <a:t> </a:t>
            </a:r>
            <a:r>
              <a:rPr lang="en-US" sz="3600" dirty="0" err="1"/>
              <a:t>dụng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B6EFC-1F74-D7F2-5B37-B09E5CD2B10E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BB5A6-D2D3-4DC4-B08C-29B652B04DA6}"/>
              </a:ext>
            </a:extLst>
          </p:cNvPr>
          <p:cNvSpPr txBox="1"/>
          <p:nvPr/>
        </p:nvSpPr>
        <p:spPr>
          <a:xfrm>
            <a:off x="9739873" y="6370865"/>
            <a:ext cx="256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6. </a:t>
            </a:r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&amp; </a:t>
            </a: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0020A-77B1-4CB8-C30C-6A673619E1F0}"/>
              </a:ext>
            </a:extLst>
          </p:cNvPr>
          <p:cNvSpPr txBox="1"/>
          <p:nvPr/>
        </p:nvSpPr>
        <p:spPr>
          <a:xfrm>
            <a:off x="0" y="6362298"/>
            <a:ext cx="220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</a:t>
            </a:r>
            <a:r>
              <a:rPr lang="en-US" sz="1600" dirty="0" err="1"/>
              <a:t>Vấn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&amp;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C872E-FA57-D3D5-B56B-5FFADE43E946}"/>
              </a:ext>
            </a:extLst>
          </p:cNvPr>
          <p:cNvSpPr txBox="1"/>
          <p:nvPr/>
        </p:nvSpPr>
        <p:spPr>
          <a:xfrm>
            <a:off x="7792323" y="6369842"/>
            <a:ext cx="22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BD869-7689-BCF9-ACED-061DC2125B61}"/>
              </a:ext>
            </a:extLst>
          </p:cNvPr>
          <p:cNvSpPr txBox="1"/>
          <p:nvPr/>
        </p:nvSpPr>
        <p:spPr>
          <a:xfrm>
            <a:off x="4934232" y="6341309"/>
            <a:ext cx="288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&amp;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17589-78EA-F8BD-79FD-08B4F4BDA1F0}"/>
              </a:ext>
            </a:extLst>
          </p:cNvPr>
          <p:cNvSpPr txBox="1"/>
          <p:nvPr/>
        </p:nvSpPr>
        <p:spPr>
          <a:xfrm>
            <a:off x="3781609" y="6335372"/>
            <a:ext cx="147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8CC8B0-8AD9-1864-39B2-D4F0F68ADA2B}"/>
              </a:ext>
            </a:extLst>
          </p:cNvPr>
          <p:cNvSpPr txBox="1"/>
          <p:nvPr/>
        </p:nvSpPr>
        <p:spPr>
          <a:xfrm>
            <a:off x="2100679" y="6353730"/>
            <a:ext cx="1784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&amp; EDA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85B98-80A3-80FC-4B67-70F701BA5806}"/>
              </a:ext>
            </a:extLst>
          </p:cNvPr>
          <p:cNvSpPr txBox="1"/>
          <p:nvPr/>
        </p:nvSpPr>
        <p:spPr>
          <a:xfrm>
            <a:off x="313608" y="619944"/>
            <a:ext cx="115647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Tổng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hợp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các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kết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quả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chính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37%,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mùa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trú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hủy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b="1" dirty="0"/>
              <a:t>Logistic Regression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phư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Recall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cụm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6 </a:t>
            </a:r>
            <a:r>
              <a:rPr lang="en-US" dirty="0" err="1"/>
              <a:t>cụm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b="1" dirty="0" err="1"/>
              <a:t>Luật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b="1" dirty="0" err="1"/>
              <a:t>Chuỗi</a:t>
            </a:r>
            <a:r>
              <a:rPr lang="en-US" b="1" dirty="0"/>
              <a:t>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mùa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rệt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72CDCC-720F-8CBE-1F86-471DEEAAD1D3}"/>
              </a:ext>
            </a:extLst>
          </p:cNvPr>
          <p:cNvSpPr txBox="1"/>
          <p:nvPr/>
        </p:nvSpPr>
        <p:spPr>
          <a:xfrm>
            <a:off x="265054" y="3825211"/>
            <a:ext cx="115647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Ứng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dụng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thực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tiễn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–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mùa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&amp; </a:t>
            </a: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81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FCB80-A3D2-3478-2432-0F751ABD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CDDEDA-7065-85B2-929E-40EF68B7AC43}"/>
              </a:ext>
            </a:extLst>
          </p:cNvPr>
          <p:cNvSpPr/>
          <p:nvPr/>
        </p:nvSpPr>
        <p:spPr>
          <a:xfrm>
            <a:off x="0" y="6238055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7CF63B-1731-5776-AEF1-45AF3F2C5744}"/>
              </a:ext>
            </a:extLst>
          </p:cNvPr>
          <p:cNvSpPr txBox="1">
            <a:spLocks/>
          </p:cNvSpPr>
          <p:nvPr/>
        </p:nvSpPr>
        <p:spPr>
          <a:xfrm>
            <a:off x="1323598" y="2235200"/>
            <a:ext cx="9544804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CẢM ƠN THẦY CÔ VÀ CÁC BẠN ĐÃ CHÚ Ý LẮNG NGHE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50B256-BF63-7BCC-D698-23E55FC3CDAF}"/>
              </a:ext>
            </a:extLst>
          </p:cNvPr>
          <p:cNvSpPr/>
          <p:nvPr/>
        </p:nvSpPr>
        <p:spPr>
          <a:xfrm>
            <a:off x="0" y="1"/>
            <a:ext cx="12192000" cy="619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9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12230D-069F-720A-133A-C0BBD495A5EA}"/>
              </a:ext>
            </a:extLst>
          </p:cNvPr>
          <p:cNvCxnSpPr>
            <a:cxnSpLocks/>
          </p:cNvCxnSpPr>
          <p:nvPr/>
        </p:nvCxnSpPr>
        <p:spPr>
          <a:xfrm>
            <a:off x="526211" y="833035"/>
            <a:ext cx="1099868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8A269D-688A-6DE2-E0F6-AFD6D3D3E532}"/>
              </a:ext>
            </a:extLst>
          </p:cNvPr>
          <p:cNvSpPr txBox="1"/>
          <p:nvPr/>
        </p:nvSpPr>
        <p:spPr>
          <a:xfrm>
            <a:off x="2133240" y="138825"/>
            <a:ext cx="7925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Ứng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</a:rPr>
              <a:t>d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ụng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các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kỹ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thuật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khai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phá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dữ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liệu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vào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cho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bộ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dữ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liệu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đặt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phòng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khác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sạn</a:t>
            </a:r>
            <a:endParaRPr lang="en-US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7" name="Picture 2" descr="SGU-LOGO – Trung tâm Ngoại ngữ – Tin học Trường Đại học Sài Gòn">
            <a:extLst>
              <a:ext uri="{FF2B5EF4-FFF2-40B4-BE49-F238E27FC236}">
                <a16:creationId xmlns:a16="http://schemas.microsoft.com/office/drawing/2014/main" id="{D54A0887-6FC0-439B-02B6-7E7B65367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" y="64702"/>
            <a:ext cx="634038" cy="63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A4A695-F362-DA00-578B-702BB63358FA}"/>
              </a:ext>
            </a:extLst>
          </p:cNvPr>
          <p:cNvSpPr txBox="1"/>
          <p:nvPr/>
        </p:nvSpPr>
        <p:spPr>
          <a:xfrm>
            <a:off x="4985887" y="463703"/>
            <a:ext cx="19844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Nguyễn </a:t>
            </a:r>
            <a:r>
              <a:rPr lang="en-US" sz="1600" b="1" dirty="0" err="1"/>
              <a:t>Đăng</a:t>
            </a:r>
            <a:r>
              <a:rPr lang="en-US" sz="1600" b="1" dirty="0"/>
              <a:t> Tiến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BECFD7-6521-CDFC-F291-593D7EE35A21}"/>
              </a:ext>
            </a:extLst>
          </p:cNvPr>
          <p:cNvCxnSpPr>
            <a:cxnSpLocks/>
          </p:cNvCxnSpPr>
          <p:nvPr/>
        </p:nvCxnSpPr>
        <p:spPr>
          <a:xfrm>
            <a:off x="3692106" y="1043796"/>
            <a:ext cx="0" cy="53874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3CBF8D8-1C40-2DE3-8C27-61CF416B24F2}"/>
              </a:ext>
            </a:extLst>
          </p:cNvPr>
          <p:cNvSpPr txBox="1"/>
          <p:nvPr/>
        </p:nvSpPr>
        <p:spPr>
          <a:xfrm>
            <a:off x="148804" y="874519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1. </a:t>
            </a:r>
            <a:r>
              <a:rPr lang="en-US" sz="1100" b="1" dirty="0" err="1"/>
              <a:t>Giới</a:t>
            </a:r>
            <a:r>
              <a:rPr lang="en-US" sz="1100" b="1" dirty="0"/>
              <a:t> </a:t>
            </a:r>
            <a:r>
              <a:rPr lang="en-US" sz="1100" b="1" dirty="0" err="1"/>
              <a:t>thiệu</a:t>
            </a:r>
            <a:r>
              <a:rPr lang="en-US" sz="1100" b="1" dirty="0"/>
              <a:t> </a:t>
            </a:r>
          </a:p>
        </p:txBody>
      </p:sp>
      <p:pic>
        <p:nvPicPr>
          <p:cNvPr id="42" name="Picture 2" descr="Booking cancellation ratio per year ">
            <a:extLst>
              <a:ext uri="{FF2B5EF4-FFF2-40B4-BE49-F238E27FC236}">
                <a16:creationId xmlns:a16="http://schemas.microsoft.com/office/drawing/2014/main" id="{DD61DB78-D340-62CF-9A9F-6A1FD3EB5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85" y="1290715"/>
            <a:ext cx="1250275" cy="87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Lead time and cancellation time by month ">
            <a:extLst>
              <a:ext uri="{FF2B5EF4-FFF2-40B4-BE49-F238E27FC236}">
                <a16:creationId xmlns:a16="http://schemas.microsoft.com/office/drawing/2014/main" id="{963C7564-19DA-A9CE-7E47-4BC3ABB9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35" y="1286632"/>
            <a:ext cx="1285645" cy="88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098D7A0-5200-4D5B-9EE1-6E8E4DA7640B}"/>
              </a:ext>
            </a:extLst>
          </p:cNvPr>
          <p:cNvSpPr txBox="1"/>
          <p:nvPr/>
        </p:nvSpPr>
        <p:spPr>
          <a:xfrm>
            <a:off x="526286" y="2099448"/>
            <a:ext cx="2409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Tỷ</a:t>
            </a:r>
            <a:r>
              <a:rPr lang="en-US" sz="800" dirty="0"/>
              <a:t> </a:t>
            </a:r>
            <a:r>
              <a:rPr lang="en-US" sz="800" dirty="0" err="1"/>
              <a:t>lệ</a:t>
            </a:r>
            <a:r>
              <a:rPr lang="en-US" sz="800" dirty="0"/>
              <a:t> </a:t>
            </a:r>
            <a:r>
              <a:rPr lang="en-US" sz="800" dirty="0" err="1"/>
              <a:t>hủy</a:t>
            </a:r>
            <a:r>
              <a:rPr lang="en-US" sz="800" dirty="0"/>
              <a:t> </a:t>
            </a:r>
            <a:r>
              <a:rPr lang="en-US" sz="800" dirty="0" err="1"/>
              <a:t>phòng</a:t>
            </a:r>
            <a:r>
              <a:rPr lang="en-US" sz="800" dirty="0"/>
              <a:t> </a:t>
            </a:r>
            <a:r>
              <a:rPr lang="en-US" sz="800" dirty="0" err="1"/>
              <a:t>cao</a:t>
            </a:r>
            <a:r>
              <a:rPr lang="en-US" sz="800" dirty="0"/>
              <a:t> </a:t>
            </a:r>
            <a:r>
              <a:rPr lang="en-US" sz="800" dirty="0" err="1"/>
              <a:t>theo</a:t>
            </a:r>
            <a:r>
              <a:rPr lang="en-US" sz="800" dirty="0"/>
              <a:t> </a:t>
            </a:r>
            <a:r>
              <a:rPr lang="en-US" sz="800" dirty="0" err="1"/>
              <a:t>từng</a:t>
            </a:r>
            <a:r>
              <a:rPr lang="en-US" sz="800" dirty="0"/>
              <a:t> </a:t>
            </a:r>
            <a:r>
              <a:rPr lang="en-US" sz="800" dirty="0" err="1"/>
              <a:t>năm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Nhu </a:t>
            </a:r>
            <a:r>
              <a:rPr lang="en-US" sz="800" dirty="0" err="1"/>
              <a:t>cầu</a:t>
            </a:r>
            <a:r>
              <a:rPr lang="en-US" sz="800" dirty="0"/>
              <a:t> </a:t>
            </a:r>
            <a:r>
              <a:rPr lang="en-US" sz="800" dirty="0" err="1"/>
              <a:t>đặt</a:t>
            </a:r>
            <a:r>
              <a:rPr lang="en-US" sz="800" dirty="0"/>
              <a:t> </a:t>
            </a:r>
            <a:r>
              <a:rPr lang="en-US" sz="800" dirty="0" err="1"/>
              <a:t>phòng</a:t>
            </a:r>
            <a:r>
              <a:rPr lang="en-US" sz="800" dirty="0"/>
              <a:t>  </a:t>
            </a:r>
            <a:r>
              <a:rPr lang="en-US" sz="800" dirty="0" err="1"/>
              <a:t>theo</a:t>
            </a:r>
            <a:r>
              <a:rPr lang="en-US" sz="800" dirty="0"/>
              <a:t> </a:t>
            </a:r>
            <a:r>
              <a:rPr lang="en-US" sz="800" dirty="0" err="1"/>
              <a:t>mùa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Quyết</a:t>
            </a:r>
            <a:r>
              <a:rPr lang="en-US" sz="800" dirty="0"/>
              <a:t> </a:t>
            </a:r>
            <a:r>
              <a:rPr lang="en-US" sz="800" dirty="0" err="1"/>
              <a:t>định</a:t>
            </a:r>
            <a:r>
              <a:rPr lang="en-US" sz="800" dirty="0"/>
              <a:t> </a:t>
            </a:r>
            <a:r>
              <a:rPr lang="en-US" sz="800" dirty="0" err="1"/>
              <a:t>truyền</a:t>
            </a:r>
            <a:r>
              <a:rPr lang="en-US" sz="800" dirty="0"/>
              <a:t> </a:t>
            </a:r>
            <a:r>
              <a:rPr lang="en-US" sz="800" dirty="0" err="1"/>
              <a:t>thống</a:t>
            </a:r>
            <a:r>
              <a:rPr lang="en-US" sz="800" dirty="0"/>
              <a:t> </a:t>
            </a:r>
            <a:r>
              <a:rPr lang="en-US" sz="800" dirty="0" err="1"/>
              <a:t>theo</a:t>
            </a:r>
            <a:r>
              <a:rPr lang="en-US" sz="800" dirty="0"/>
              <a:t> </a:t>
            </a:r>
            <a:r>
              <a:rPr lang="en-US" sz="800" dirty="0" err="1"/>
              <a:t>kinh</a:t>
            </a:r>
            <a:r>
              <a:rPr lang="en-US" sz="800" dirty="0"/>
              <a:t> </a:t>
            </a:r>
            <a:r>
              <a:rPr lang="en-US" sz="800" dirty="0" err="1"/>
              <a:t>nghiệm</a:t>
            </a:r>
            <a:endParaRPr lang="en-US" sz="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7B1C1B-00D5-C02F-88E0-3E21EB92DFF9}"/>
              </a:ext>
            </a:extLst>
          </p:cNvPr>
          <p:cNvSpPr txBox="1"/>
          <p:nvPr/>
        </p:nvSpPr>
        <p:spPr>
          <a:xfrm>
            <a:off x="267185" y="1063713"/>
            <a:ext cx="198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solidFill>
                  <a:schemeClr val="accent5"/>
                </a:solidFill>
              </a:rPr>
              <a:t>Đặt</a:t>
            </a:r>
            <a:r>
              <a:rPr lang="en-US" sz="900" b="1" dirty="0">
                <a:solidFill>
                  <a:schemeClr val="accent5"/>
                </a:solidFill>
              </a:rPr>
              <a:t> </a:t>
            </a:r>
            <a:r>
              <a:rPr lang="en-US" sz="900" b="1" dirty="0" err="1">
                <a:solidFill>
                  <a:schemeClr val="accent5"/>
                </a:solidFill>
              </a:rPr>
              <a:t>vấn</a:t>
            </a:r>
            <a:r>
              <a:rPr lang="en-US" sz="900" b="1" dirty="0">
                <a:solidFill>
                  <a:schemeClr val="accent5"/>
                </a:solidFill>
              </a:rPr>
              <a:t> </a:t>
            </a:r>
            <a:r>
              <a:rPr lang="en-US" sz="900" b="1" dirty="0" err="1">
                <a:solidFill>
                  <a:schemeClr val="accent5"/>
                </a:solidFill>
              </a:rPr>
              <a:t>đề</a:t>
            </a:r>
            <a:r>
              <a:rPr lang="en-US" sz="900" b="1" dirty="0">
                <a:solidFill>
                  <a:schemeClr val="accent5"/>
                </a:solidFill>
              </a:rPr>
              <a:t>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562B91-A6F5-1B18-C1B2-F5E1F06C71DF}"/>
              </a:ext>
            </a:extLst>
          </p:cNvPr>
          <p:cNvSpPr txBox="1"/>
          <p:nvPr/>
        </p:nvSpPr>
        <p:spPr>
          <a:xfrm>
            <a:off x="526287" y="2625055"/>
            <a:ext cx="2409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Dự</a:t>
            </a:r>
            <a:r>
              <a:rPr lang="en-US" sz="800" dirty="0"/>
              <a:t> </a:t>
            </a:r>
            <a:r>
              <a:rPr lang="en-US" sz="800" dirty="0" err="1"/>
              <a:t>đoán</a:t>
            </a:r>
            <a:r>
              <a:rPr lang="en-US" sz="800" dirty="0"/>
              <a:t> </a:t>
            </a:r>
            <a:r>
              <a:rPr lang="en-US" sz="800" dirty="0" err="1"/>
              <a:t>khả</a:t>
            </a:r>
            <a:r>
              <a:rPr lang="en-US" sz="800" dirty="0"/>
              <a:t> </a:t>
            </a:r>
            <a:r>
              <a:rPr lang="en-US" sz="800" dirty="0" err="1"/>
              <a:t>năng</a:t>
            </a:r>
            <a:r>
              <a:rPr lang="en-US" sz="800" dirty="0"/>
              <a:t> </a:t>
            </a:r>
            <a:r>
              <a:rPr lang="en-US" sz="800" dirty="0" err="1"/>
              <a:t>hủy</a:t>
            </a:r>
            <a:r>
              <a:rPr lang="en-US" sz="800" dirty="0"/>
              <a:t> </a:t>
            </a:r>
            <a:r>
              <a:rPr lang="en-US" sz="800" dirty="0" err="1"/>
              <a:t>phòng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Phân</a:t>
            </a:r>
            <a:r>
              <a:rPr lang="en-US" sz="800" dirty="0"/>
              <a:t> </a:t>
            </a:r>
            <a:r>
              <a:rPr lang="en-US" sz="800" dirty="0" err="1"/>
              <a:t>nhóm</a:t>
            </a:r>
            <a:r>
              <a:rPr lang="en-US" sz="800" dirty="0"/>
              <a:t> </a:t>
            </a:r>
            <a:r>
              <a:rPr lang="en-US" sz="800" dirty="0" err="1"/>
              <a:t>hành</a:t>
            </a:r>
            <a:r>
              <a:rPr lang="en-US" sz="800" dirty="0"/>
              <a:t> vi </a:t>
            </a:r>
            <a:r>
              <a:rPr lang="en-US" sz="800" dirty="0" err="1"/>
              <a:t>khách</a:t>
            </a:r>
            <a:r>
              <a:rPr lang="en-US" sz="800" dirty="0"/>
              <a:t> </a:t>
            </a:r>
            <a:r>
              <a:rPr lang="en-US" sz="800" dirty="0" err="1"/>
              <a:t>hàng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Phát</a:t>
            </a:r>
            <a:r>
              <a:rPr lang="en-US" sz="800" dirty="0"/>
              <a:t> </a:t>
            </a:r>
            <a:r>
              <a:rPr lang="en-US" sz="800" dirty="0" err="1"/>
              <a:t>hiện</a:t>
            </a:r>
            <a:r>
              <a:rPr lang="en-US" sz="800" dirty="0"/>
              <a:t> </a:t>
            </a:r>
            <a:r>
              <a:rPr lang="en-US" sz="800" dirty="0" err="1"/>
              <a:t>các</a:t>
            </a:r>
            <a:r>
              <a:rPr lang="en-US" sz="800" dirty="0"/>
              <a:t> </a:t>
            </a:r>
            <a:r>
              <a:rPr lang="en-US" sz="800" dirty="0" err="1"/>
              <a:t>luật</a:t>
            </a:r>
            <a:r>
              <a:rPr lang="en-US" sz="800" dirty="0"/>
              <a:t> </a:t>
            </a:r>
            <a:r>
              <a:rPr lang="en-US" sz="800" dirty="0" err="1"/>
              <a:t>dịch</a:t>
            </a:r>
            <a:r>
              <a:rPr lang="en-US" sz="800" dirty="0"/>
              <a:t> </a:t>
            </a:r>
            <a:r>
              <a:rPr lang="en-US" sz="800" dirty="0" err="1"/>
              <a:t>vụ</a:t>
            </a:r>
            <a:r>
              <a:rPr lang="en-US" sz="800" dirty="0"/>
              <a:t> - </a:t>
            </a:r>
            <a:r>
              <a:rPr lang="en-US" sz="800" dirty="0" err="1"/>
              <a:t>phòng</a:t>
            </a:r>
            <a:r>
              <a:rPr lang="en-US" sz="8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Dự</a:t>
            </a:r>
            <a:r>
              <a:rPr lang="en-US" sz="800" dirty="0"/>
              <a:t> </a:t>
            </a:r>
            <a:r>
              <a:rPr lang="en-US" sz="800" dirty="0" err="1"/>
              <a:t>báo</a:t>
            </a:r>
            <a:r>
              <a:rPr lang="en-US" sz="800" dirty="0"/>
              <a:t> </a:t>
            </a:r>
            <a:r>
              <a:rPr lang="en-US" sz="800" dirty="0" err="1"/>
              <a:t>nhu</a:t>
            </a:r>
            <a:r>
              <a:rPr lang="en-US" sz="800" dirty="0"/>
              <a:t> </a:t>
            </a:r>
            <a:r>
              <a:rPr lang="en-US" sz="800" dirty="0" err="1"/>
              <a:t>càu</a:t>
            </a:r>
            <a:r>
              <a:rPr lang="en-US" sz="800" dirty="0"/>
              <a:t> </a:t>
            </a:r>
            <a:r>
              <a:rPr lang="en-US" sz="800" dirty="0" err="1"/>
              <a:t>ngắn</a:t>
            </a:r>
            <a:r>
              <a:rPr lang="en-US" sz="800" dirty="0"/>
              <a:t> </a:t>
            </a:r>
            <a:r>
              <a:rPr lang="en-US" sz="800" dirty="0" err="1"/>
              <a:t>hạn</a:t>
            </a:r>
            <a:endParaRPr lang="en-US" sz="8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B9BEA4-4295-79D7-C7EC-EB1837487D07}"/>
              </a:ext>
            </a:extLst>
          </p:cNvPr>
          <p:cNvSpPr txBox="1"/>
          <p:nvPr/>
        </p:nvSpPr>
        <p:spPr>
          <a:xfrm>
            <a:off x="289165" y="2488697"/>
            <a:ext cx="198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solidFill>
                  <a:schemeClr val="accent5"/>
                </a:solidFill>
              </a:rPr>
              <a:t>Mục</a:t>
            </a:r>
            <a:r>
              <a:rPr lang="en-US" sz="900" b="1" dirty="0">
                <a:solidFill>
                  <a:schemeClr val="accent5"/>
                </a:solidFill>
              </a:rPr>
              <a:t> </a:t>
            </a:r>
            <a:r>
              <a:rPr lang="en-US" sz="900" b="1" dirty="0" err="1">
                <a:solidFill>
                  <a:schemeClr val="accent5"/>
                </a:solidFill>
              </a:rPr>
              <a:t>tiêu</a:t>
            </a:r>
            <a:r>
              <a:rPr lang="en-US" sz="900" b="1" dirty="0">
                <a:solidFill>
                  <a:schemeClr val="accent5"/>
                </a:solidFill>
              </a:rPr>
              <a:t>: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5772C7-3CE6-64B0-077F-4D1D9FD6AAFC}"/>
              </a:ext>
            </a:extLst>
          </p:cNvPr>
          <p:cNvSpPr txBox="1"/>
          <p:nvPr/>
        </p:nvSpPr>
        <p:spPr>
          <a:xfrm>
            <a:off x="209192" y="3273772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2. </a:t>
            </a:r>
            <a:r>
              <a:rPr lang="en-US" sz="1100" b="1" dirty="0" err="1"/>
              <a:t>Dữ</a:t>
            </a:r>
            <a:r>
              <a:rPr lang="en-US" sz="1100" b="1" dirty="0"/>
              <a:t> </a:t>
            </a:r>
            <a:r>
              <a:rPr lang="en-US" sz="1100" b="1" dirty="0" err="1"/>
              <a:t>liệu</a:t>
            </a:r>
            <a:r>
              <a:rPr lang="en-US" sz="1100" b="1" dirty="0"/>
              <a:t> 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DF32DD-F047-243F-A436-6B089EBC4996}"/>
              </a:ext>
            </a:extLst>
          </p:cNvPr>
          <p:cNvSpPr txBox="1"/>
          <p:nvPr/>
        </p:nvSpPr>
        <p:spPr>
          <a:xfrm>
            <a:off x="426775" y="3471685"/>
            <a:ext cx="281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Mẫu</a:t>
            </a:r>
            <a:r>
              <a:rPr lang="en-US" sz="800" dirty="0"/>
              <a:t> </a:t>
            </a:r>
            <a:r>
              <a:rPr lang="en-US" sz="800" dirty="0" err="1"/>
              <a:t>khoảng</a:t>
            </a:r>
            <a:r>
              <a:rPr lang="en-US" sz="800" dirty="0"/>
              <a:t> </a:t>
            </a:r>
            <a:r>
              <a:rPr lang="en-US" sz="800" b="1" dirty="0"/>
              <a:t>119.390</a:t>
            </a:r>
            <a:r>
              <a:rPr lang="en-US" sz="800" dirty="0"/>
              <a:t> </a:t>
            </a:r>
            <a:r>
              <a:rPr lang="en-US" sz="800" dirty="0" err="1"/>
              <a:t>xuất</a:t>
            </a:r>
            <a:r>
              <a:rPr lang="en-US" sz="800" dirty="0"/>
              <a:t> </a:t>
            </a:r>
            <a:r>
              <a:rPr lang="en-US" sz="800" dirty="0" err="1"/>
              <a:t>hiện</a:t>
            </a:r>
            <a:r>
              <a:rPr lang="en-US" sz="800" dirty="0"/>
              <a:t> </a:t>
            </a:r>
            <a:r>
              <a:rPr lang="en-US" sz="800" dirty="0" err="1"/>
              <a:t>cũng</a:t>
            </a:r>
            <a:r>
              <a:rPr lang="en-US" sz="800" dirty="0"/>
              <a:t> </a:t>
            </a:r>
            <a:r>
              <a:rPr lang="en-US" sz="800" b="1" dirty="0"/>
              <a:t>32</a:t>
            </a:r>
            <a:r>
              <a:rPr lang="en-US" sz="800" dirty="0"/>
              <a:t> </a:t>
            </a:r>
            <a:r>
              <a:rPr lang="en-US" sz="800" dirty="0" err="1"/>
              <a:t>đặc</a:t>
            </a:r>
            <a:r>
              <a:rPr lang="en-US" sz="800" dirty="0"/>
              <a:t> </a:t>
            </a:r>
            <a:r>
              <a:rPr lang="en-US" sz="800" dirty="0" err="1"/>
              <a:t>trưng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 err="1"/>
              <a:t>Loại</a:t>
            </a:r>
            <a:r>
              <a:rPr lang="en-US" sz="800" b="1" dirty="0"/>
              <a:t> </a:t>
            </a:r>
            <a:r>
              <a:rPr lang="en-US" sz="800" b="1" dirty="0" err="1"/>
              <a:t>dữ</a:t>
            </a:r>
            <a:r>
              <a:rPr lang="en-US" sz="800" b="1" dirty="0"/>
              <a:t> </a:t>
            </a:r>
            <a:r>
              <a:rPr lang="en-US" sz="800" b="1" dirty="0" err="1"/>
              <a:t>liệu</a:t>
            </a:r>
            <a:r>
              <a:rPr lang="en-US" sz="800" b="1" dirty="0"/>
              <a:t>:</a:t>
            </a:r>
            <a:r>
              <a:rPr lang="en-US" sz="800" dirty="0"/>
              <a:t> </a:t>
            </a:r>
            <a:r>
              <a:rPr lang="en-US" sz="800" dirty="0" err="1"/>
              <a:t>Thời</a:t>
            </a:r>
            <a:r>
              <a:rPr lang="en-US" sz="800" dirty="0"/>
              <a:t> </a:t>
            </a:r>
            <a:r>
              <a:rPr lang="en-US" sz="800" dirty="0" err="1"/>
              <a:t>gian</a:t>
            </a:r>
            <a:r>
              <a:rPr lang="en-US" sz="800" dirty="0"/>
              <a:t>, </a:t>
            </a:r>
            <a:r>
              <a:rPr lang="en-US" sz="800" dirty="0" err="1"/>
              <a:t>giá</a:t>
            </a:r>
            <a:r>
              <a:rPr lang="en-US" sz="800" dirty="0"/>
              <a:t>, </a:t>
            </a:r>
            <a:r>
              <a:rPr lang="en-US" sz="800" dirty="0" err="1"/>
              <a:t>dịch</a:t>
            </a:r>
            <a:r>
              <a:rPr lang="en-US" sz="800" dirty="0"/>
              <a:t> </a:t>
            </a:r>
            <a:r>
              <a:rPr lang="en-US" sz="800" dirty="0" err="1"/>
              <a:t>vụ</a:t>
            </a:r>
            <a:r>
              <a:rPr lang="en-US" sz="800" dirty="0"/>
              <a:t>, </a:t>
            </a:r>
            <a:r>
              <a:rPr lang="en-US" sz="800" dirty="0" err="1"/>
              <a:t>hành</a:t>
            </a:r>
            <a:r>
              <a:rPr lang="en-US" sz="800" dirty="0"/>
              <a:t> vi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 err="1"/>
              <a:t>Nguồn</a:t>
            </a:r>
            <a:r>
              <a:rPr lang="en-US" sz="800" b="1" dirty="0"/>
              <a:t> </a:t>
            </a:r>
            <a:r>
              <a:rPr lang="en-US" sz="800" b="1" dirty="0" err="1"/>
              <a:t>dữ</a:t>
            </a:r>
            <a:r>
              <a:rPr lang="en-US" sz="800" b="1" dirty="0"/>
              <a:t> </a:t>
            </a:r>
            <a:r>
              <a:rPr lang="en-US" sz="800" b="1" dirty="0" err="1"/>
              <a:t>liệu</a:t>
            </a:r>
            <a:r>
              <a:rPr lang="en-US" sz="800" b="1" dirty="0"/>
              <a:t>:</a:t>
            </a:r>
            <a:r>
              <a:rPr lang="en-US" sz="800" dirty="0"/>
              <a:t> Kaggle </a:t>
            </a:r>
            <a:r>
              <a:rPr lang="en-US" sz="800" dirty="0">
                <a:hlinkClick r:id="rId5"/>
              </a:rPr>
              <a:t>(Hotel booking demand | Kaggle</a:t>
            </a:r>
            <a:r>
              <a:rPr lang="en-US" sz="800" dirty="0"/>
              <a:t>)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5657F11E-7E42-3FB4-7AC7-C9D243E14B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10" y="3979780"/>
            <a:ext cx="1280160" cy="117328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4C74BE0-209D-715C-BCCC-D95BA17F8B31}"/>
              </a:ext>
            </a:extLst>
          </p:cNvPr>
          <p:cNvSpPr txBox="1"/>
          <p:nvPr/>
        </p:nvSpPr>
        <p:spPr>
          <a:xfrm>
            <a:off x="1832635" y="4150924"/>
            <a:ext cx="16414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 err="1"/>
              <a:t>Biến</a:t>
            </a:r>
            <a:r>
              <a:rPr lang="en-US" sz="800" b="1" dirty="0"/>
              <a:t> </a:t>
            </a:r>
            <a:r>
              <a:rPr lang="en-US" sz="800" b="1" dirty="0" err="1"/>
              <a:t>mục</a:t>
            </a:r>
            <a:r>
              <a:rPr lang="en-US" sz="800" b="1" dirty="0"/>
              <a:t> </a:t>
            </a:r>
            <a:r>
              <a:rPr lang="en-US" sz="800" b="1" dirty="0" err="1"/>
              <a:t>tiêu</a:t>
            </a:r>
            <a:r>
              <a:rPr lang="en-US" sz="800" b="1" dirty="0"/>
              <a:t>:</a:t>
            </a:r>
            <a:r>
              <a:rPr lang="en-US" sz="800" dirty="0"/>
              <a:t> </a:t>
            </a:r>
            <a:r>
              <a:rPr lang="en-US" sz="800" dirty="0" err="1"/>
              <a:t>is_canceled</a:t>
            </a:r>
            <a:endParaRPr lang="en-US" sz="8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2EFA7F-F429-6C0E-CB1E-1EB21BEE804C}"/>
              </a:ext>
            </a:extLst>
          </p:cNvPr>
          <p:cNvSpPr txBox="1"/>
          <p:nvPr/>
        </p:nvSpPr>
        <p:spPr>
          <a:xfrm>
            <a:off x="1832635" y="4316224"/>
            <a:ext cx="182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Gồm</a:t>
            </a:r>
            <a:r>
              <a:rPr lang="en-US" sz="800" dirty="0"/>
              <a:t> </a:t>
            </a:r>
            <a:r>
              <a:rPr lang="en-US" sz="800" dirty="0" err="1"/>
              <a:t>hai</a:t>
            </a:r>
            <a:r>
              <a:rPr lang="en-US" sz="800" dirty="0"/>
              <a:t> </a:t>
            </a:r>
            <a:r>
              <a:rPr lang="en-US" sz="800" dirty="0" err="1"/>
              <a:t>nhãn</a:t>
            </a:r>
            <a:r>
              <a:rPr lang="en-US" sz="800" dirty="0"/>
              <a:t> </a:t>
            </a:r>
            <a:r>
              <a:rPr lang="en-US" sz="800" b="1" dirty="0" err="1"/>
              <a:t>Hủy</a:t>
            </a:r>
            <a:r>
              <a:rPr lang="en-US" sz="800" b="1" dirty="0"/>
              <a:t> (1) </a:t>
            </a:r>
            <a:r>
              <a:rPr lang="en-US" sz="800" b="1" dirty="0" err="1"/>
              <a:t>và</a:t>
            </a:r>
            <a:r>
              <a:rPr lang="en-US" sz="800" b="1" dirty="0"/>
              <a:t> </a:t>
            </a:r>
            <a:r>
              <a:rPr lang="en-US" sz="800" b="1" dirty="0" err="1"/>
              <a:t>Không</a:t>
            </a:r>
            <a:r>
              <a:rPr lang="en-US" sz="800" b="1" dirty="0"/>
              <a:t> </a:t>
            </a:r>
            <a:r>
              <a:rPr lang="en-US" sz="800" b="1" dirty="0" err="1"/>
              <a:t>hủy</a:t>
            </a:r>
            <a:r>
              <a:rPr lang="en-US" sz="800" b="1" dirty="0"/>
              <a:t> (0). </a:t>
            </a:r>
            <a:r>
              <a:rPr lang="en-US" sz="800" dirty="0" err="1"/>
              <a:t>Với</a:t>
            </a:r>
            <a:r>
              <a:rPr lang="en-US" sz="800" dirty="0"/>
              <a:t> </a:t>
            </a:r>
            <a:r>
              <a:rPr lang="en-US" sz="800" dirty="0" err="1"/>
              <a:t>nhãn</a:t>
            </a:r>
            <a:r>
              <a:rPr lang="en-US" sz="800" dirty="0"/>
              <a:t> </a:t>
            </a:r>
            <a:r>
              <a:rPr lang="en-US" sz="800" dirty="0" err="1"/>
              <a:t>bằng</a:t>
            </a:r>
            <a:r>
              <a:rPr lang="en-US" sz="800" dirty="0"/>
              <a:t> 1 </a:t>
            </a:r>
            <a:r>
              <a:rPr lang="en-US" sz="800" dirty="0" err="1"/>
              <a:t>chiếm</a:t>
            </a:r>
            <a:r>
              <a:rPr lang="en-US" sz="800" dirty="0"/>
              <a:t> </a:t>
            </a:r>
            <a:r>
              <a:rPr lang="en-US" sz="800" b="1" dirty="0"/>
              <a:t>37% </a:t>
            </a:r>
            <a:r>
              <a:rPr lang="en-US" sz="800" dirty="0"/>
              <a:t>(</a:t>
            </a:r>
            <a:r>
              <a:rPr lang="en-US" sz="800" dirty="0" err="1"/>
              <a:t>một</a:t>
            </a:r>
            <a:r>
              <a:rPr lang="en-US" sz="800" dirty="0"/>
              <a:t> </a:t>
            </a:r>
            <a:r>
              <a:rPr lang="en-US" sz="800" dirty="0" err="1"/>
              <a:t>tỷ</a:t>
            </a:r>
            <a:r>
              <a:rPr lang="en-US" sz="800" dirty="0"/>
              <a:t> </a:t>
            </a:r>
            <a:r>
              <a:rPr lang="en-US" sz="800" dirty="0" err="1"/>
              <a:t>lệ</a:t>
            </a:r>
            <a:r>
              <a:rPr lang="en-US" sz="800" dirty="0"/>
              <a:t> </a:t>
            </a:r>
            <a:r>
              <a:rPr lang="en-US" sz="800" dirty="0" err="1"/>
              <a:t>đáng</a:t>
            </a:r>
            <a:r>
              <a:rPr lang="en-US" sz="800" dirty="0"/>
              <a:t> </a:t>
            </a:r>
            <a:r>
              <a:rPr lang="en-US" sz="800" dirty="0" err="1"/>
              <a:t>báo</a:t>
            </a:r>
            <a:r>
              <a:rPr lang="en-US" sz="800" dirty="0"/>
              <a:t> </a:t>
            </a:r>
            <a:r>
              <a:rPr lang="en-US" sz="800" dirty="0" err="1"/>
              <a:t>động</a:t>
            </a:r>
            <a:r>
              <a:rPr lang="en-US" sz="800" dirty="0"/>
              <a:t>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EC78FE-FA48-B103-2547-C6DC734C5F79}"/>
              </a:ext>
            </a:extLst>
          </p:cNvPr>
          <p:cNvSpPr txBox="1"/>
          <p:nvPr/>
        </p:nvSpPr>
        <p:spPr>
          <a:xfrm>
            <a:off x="267185" y="5090785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3. Quy </a:t>
            </a:r>
            <a:r>
              <a:rPr lang="en-US" sz="1100" b="1" dirty="0" err="1"/>
              <a:t>trình</a:t>
            </a:r>
            <a:r>
              <a:rPr lang="en-US" sz="1100" b="1" dirty="0"/>
              <a:t> </a:t>
            </a:r>
            <a:r>
              <a:rPr lang="en-US" sz="1100" b="1" dirty="0" err="1"/>
              <a:t>khai</a:t>
            </a:r>
            <a:r>
              <a:rPr lang="en-US" sz="1100" b="1" dirty="0"/>
              <a:t> </a:t>
            </a:r>
            <a:r>
              <a:rPr lang="en-US" sz="1100" b="1" dirty="0" err="1"/>
              <a:t>phá</a:t>
            </a:r>
            <a:r>
              <a:rPr lang="en-US" sz="1100" b="1" dirty="0"/>
              <a:t> </a:t>
            </a:r>
            <a:r>
              <a:rPr lang="en-US" sz="1100" b="1" dirty="0" err="1"/>
              <a:t>dữ</a:t>
            </a:r>
            <a:r>
              <a:rPr lang="en-US" sz="1100" b="1" dirty="0"/>
              <a:t> </a:t>
            </a:r>
            <a:r>
              <a:rPr lang="en-US" sz="1100" b="1" dirty="0" err="1"/>
              <a:t>liệu</a:t>
            </a:r>
            <a:endParaRPr lang="en-US" sz="11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6B189C-F83F-5F3F-1026-DAA891492951}"/>
              </a:ext>
            </a:extLst>
          </p:cNvPr>
          <p:cNvSpPr txBox="1"/>
          <p:nvPr/>
        </p:nvSpPr>
        <p:spPr>
          <a:xfrm>
            <a:off x="3810487" y="917519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4. </a:t>
            </a:r>
            <a:r>
              <a:rPr lang="en-US" sz="1100" b="1" dirty="0" err="1"/>
              <a:t>Dự</a:t>
            </a:r>
            <a:r>
              <a:rPr lang="en-US" sz="1100" b="1" dirty="0"/>
              <a:t> </a:t>
            </a:r>
            <a:r>
              <a:rPr lang="en-US" sz="1100" b="1" dirty="0" err="1"/>
              <a:t>đoán</a:t>
            </a:r>
            <a:r>
              <a:rPr lang="en-US" sz="1100" b="1" dirty="0"/>
              <a:t> </a:t>
            </a:r>
            <a:r>
              <a:rPr lang="en-US" sz="1100" b="1" dirty="0" err="1"/>
              <a:t>hủy</a:t>
            </a:r>
            <a:r>
              <a:rPr lang="en-US" sz="1100" b="1" dirty="0"/>
              <a:t> </a:t>
            </a:r>
            <a:r>
              <a:rPr lang="en-US" sz="1100" b="1" dirty="0" err="1"/>
              <a:t>phòng</a:t>
            </a:r>
            <a:endParaRPr lang="en-US" sz="1100" b="1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47737E7-CB4B-B70F-0972-779C5D137CA8}"/>
              </a:ext>
            </a:extLst>
          </p:cNvPr>
          <p:cNvGrpSpPr/>
          <p:nvPr/>
        </p:nvGrpSpPr>
        <p:grpSpPr>
          <a:xfrm>
            <a:off x="161044" y="5356911"/>
            <a:ext cx="3010291" cy="1362264"/>
            <a:chOff x="499851" y="1582638"/>
            <a:chExt cx="11114401" cy="4104371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4A76DE6-BC12-DED3-8CC9-2BB9C2027291}"/>
                </a:ext>
              </a:extLst>
            </p:cNvPr>
            <p:cNvSpPr/>
            <p:nvPr/>
          </p:nvSpPr>
          <p:spPr>
            <a:xfrm>
              <a:off x="499851" y="1582638"/>
              <a:ext cx="2828382" cy="681486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/>
                <a:t>Dữ</a:t>
              </a:r>
              <a:r>
                <a:rPr lang="en-US" sz="900" dirty="0"/>
                <a:t> </a:t>
              </a:r>
              <a:r>
                <a:rPr lang="en-US" sz="900" dirty="0" err="1"/>
                <a:t>liệu</a:t>
              </a:r>
              <a:r>
                <a:rPr lang="en-US" sz="900" dirty="0"/>
                <a:t> </a:t>
              </a:r>
              <a:r>
                <a:rPr lang="en-US" sz="900" dirty="0" err="1"/>
                <a:t>gốc</a:t>
              </a:r>
              <a:endParaRPr lang="en-US" sz="9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DE2D067-CE49-44B3-6B2C-001FC6C22EB5}"/>
                </a:ext>
              </a:extLst>
            </p:cNvPr>
            <p:cNvSpPr/>
            <p:nvPr/>
          </p:nvSpPr>
          <p:spPr>
            <a:xfrm>
              <a:off x="677620" y="2665208"/>
              <a:ext cx="2493033" cy="681486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/>
                <a:t>Tiền</a:t>
              </a:r>
              <a:r>
                <a:rPr lang="en-US" sz="900" dirty="0"/>
                <a:t> </a:t>
              </a:r>
              <a:r>
                <a:rPr lang="en-US" sz="900" dirty="0" err="1"/>
                <a:t>xử</a:t>
              </a:r>
              <a:r>
                <a:rPr lang="en-US" sz="900" dirty="0"/>
                <a:t> </a:t>
              </a:r>
              <a:r>
                <a:rPr lang="en-US" sz="900" dirty="0" err="1"/>
                <a:t>lý</a:t>
              </a:r>
              <a:r>
                <a:rPr lang="en-US" sz="900" dirty="0"/>
                <a:t> 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BEFCFF6-563B-93F6-ADFF-B92C9C3E6DE0}"/>
                </a:ext>
              </a:extLst>
            </p:cNvPr>
            <p:cNvSpPr/>
            <p:nvPr/>
          </p:nvSpPr>
          <p:spPr>
            <a:xfrm>
              <a:off x="3770440" y="2665208"/>
              <a:ext cx="4267691" cy="681486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Sinh </a:t>
              </a:r>
              <a:r>
                <a:rPr lang="en-US" sz="900" dirty="0" err="1"/>
                <a:t>đặc</a:t>
              </a:r>
              <a:r>
                <a:rPr lang="en-US" sz="900" dirty="0"/>
                <a:t> </a:t>
              </a:r>
              <a:r>
                <a:rPr lang="en-US" sz="900" dirty="0" err="1"/>
                <a:t>trưng</a:t>
              </a:r>
              <a:r>
                <a:rPr lang="en-US" sz="900" dirty="0"/>
                <a:t> </a:t>
              </a:r>
              <a:r>
                <a:rPr lang="en-US" sz="900" dirty="0" err="1"/>
                <a:t>mới</a:t>
              </a:r>
              <a:endParaRPr lang="en-US" sz="9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485FE36-9FAD-AD7F-EE40-B1C8F13D32AE}"/>
                </a:ext>
              </a:extLst>
            </p:cNvPr>
            <p:cNvSpPr/>
            <p:nvPr/>
          </p:nvSpPr>
          <p:spPr>
            <a:xfrm>
              <a:off x="8610759" y="2665208"/>
              <a:ext cx="1598598" cy="681486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EDA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5E2B304-DECD-CB21-0DF0-919AEE6DC1A3}"/>
                </a:ext>
              </a:extLst>
            </p:cNvPr>
            <p:cNvSpPr/>
            <p:nvPr/>
          </p:nvSpPr>
          <p:spPr>
            <a:xfrm>
              <a:off x="7205865" y="3853033"/>
              <a:ext cx="4408387" cy="681486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/>
                <a:t>Huấn</a:t>
              </a:r>
              <a:r>
                <a:rPr lang="en-US" sz="900" dirty="0"/>
                <a:t> </a:t>
              </a:r>
              <a:r>
                <a:rPr lang="en-US" sz="900" dirty="0" err="1"/>
                <a:t>luyện</a:t>
              </a:r>
              <a:r>
                <a:rPr lang="en-US" sz="900" dirty="0"/>
                <a:t> </a:t>
              </a:r>
              <a:r>
                <a:rPr lang="en-US" sz="900" dirty="0" err="1"/>
                <a:t>mô</a:t>
              </a:r>
              <a:r>
                <a:rPr lang="en-US" sz="900" dirty="0"/>
                <a:t> </a:t>
              </a:r>
              <a:r>
                <a:rPr lang="en-US" sz="900" dirty="0" err="1"/>
                <a:t>hình</a:t>
              </a:r>
              <a:endParaRPr lang="en-US" sz="9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8070EB7-4078-606D-0C2D-99694B535B9B}"/>
                </a:ext>
              </a:extLst>
            </p:cNvPr>
            <p:cNvSpPr/>
            <p:nvPr/>
          </p:nvSpPr>
          <p:spPr>
            <a:xfrm>
              <a:off x="8163542" y="5005523"/>
              <a:ext cx="2493033" cy="681486"/>
            </a:xfrm>
            <a:prstGeom prst="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/>
                <a:t>Đánh</a:t>
              </a:r>
              <a:r>
                <a:rPr lang="en-US" sz="900" dirty="0"/>
                <a:t> </a:t>
              </a:r>
              <a:r>
                <a:rPr lang="en-US" sz="900" dirty="0" err="1"/>
                <a:t>giá</a:t>
              </a:r>
              <a:endParaRPr lang="en-US" sz="900" dirty="0"/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E218921D-5164-2F4A-537C-7A31EDC16484}"/>
                </a:ext>
              </a:extLst>
            </p:cNvPr>
            <p:cNvCxnSpPr>
              <a:cxnSpLocks/>
              <a:stCxn id="74" idx="2"/>
              <a:endCxn id="75" idx="0"/>
            </p:cNvCxnSpPr>
            <p:nvPr/>
          </p:nvCxnSpPr>
          <p:spPr>
            <a:xfrm>
              <a:off x="1914042" y="2264124"/>
              <a:ext cx="10094" cy="40108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DF5ADB57-F525-CCEC-2707-A666DC705C6E}"/>
                </a:ext>
              </a:extLst>
            </p:cNvPr>
            <p:cNvCxnSpPr>
              <a:cxnSpLocks/>
              <a:stCxn id="75" idx="3"/>
              <a:endCxn id="76" idx="1"/>
            </p:cNvCxnSpPr>
            <p:nvPr/>
          </p:nvCxnSpPr>
          <p:spPr>
            <a:xfrm>
              <a:off x="3170653" y="3005952"/>
              <a:ext cx="59978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CE78DCB0-7CE4-4CB6-69A9-C315B31DE71D}"/>
                </a:ext>
              </a:extLst>
            </p:cNvPr>
            <p:cNvCxnSpPr>
              <a:cxnSpLocks/>
              <a:stCxn id="76" idx="3"/>
              <a:endCxn id="77" idx="1"/>
            </p:cNvCxnSpPr>
            <p:nvPr/>
          </p:nvCxnSpPr>
          <p:spPr>
            <a:xfrm>
              <a:off x="8038131" y="3005952"/>
              <a:ext cx="57262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DA5D4B4B-03F3-0467-9E97-28602140CDF7}"/>
                </a:ext>
              </a:extLst>
            </p:cNvPr>
            <p:cNvCxnSpPr>
              <a:cxnSpLocks/>
              <a:stCxn id="77" idx="2"/>
              <a:endCxn id="78" idx="0"/>
            </p:cNvCxnSpPr>
            <p:nvPr/>
          </p:nvCxnSpPr>
          <p:spPr>
            <a:xfrm>
              <a:off x="9410058" y="3346694"/>
              <a:ext cx="0" cy="50634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1CFA7EB-31C9-46CE-C90D-CA67879CC167}"/>
                </a:ext>
              </a:extLst>
            </p:cNvPr>
            <p:cNvCxnSpPr>
              <a:cxnSpLocks/>
              <a:stCxn id="78" idx="2"/>
              <a:endCxn id="79" idx="0"/>
            </p:cNvCxnSpPr>
            <p:nvPr/>
          </p:nvCxnSpPr>
          <p:spPr>
            <a:xfrm>
              <a:off x="9410058" y="4534519"/>
              <a:ext cx="0" cy="47100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55459C97-2988-FA17-73FA-5A6575CC20D6}"/>
              </a:ext>
            </a:extLst>
          </p:cNvPr>
          <p:cNvSpPr txBox="1"/>
          <p:nvPr/>
        </p:nvSpPr>
        <p:spPr>
          <a:xfrm>
            <a:off x="129942" y="6110468"/>
            <a:ext cx="182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Trong </a:t>
            </a:r>
            <a:r>
              <a:rPr lang="en-US" sz="800" dirty="0" err="1"/>
              <a:t>phần</a:t>
            </a:r>
            <a:r>
              <a:rPr lang="en-US" sz="800" dirty="0"/>
              <a:t> </a:t>
            </a:r>
            <a:r>
              <a:rPr lang="en-US" sz="800" dirty="0" err="1"/>
              <a:t>mô</a:t>
            </a:r>
            <a:r>
              <a:rPr lang="en-US" sz="800" dirty="0"/>
              <a:t> </a:t>
            </a:r>
            <a:r>
              <a:rPr lang="en-US" sz="800" dirty="0" err="1"/>
              <a:t>hình</a:t>
            </a:r>
            <a:r>
              <a:rPr lang="en-US" sz="800" dirty="0"/>
              <a:t> </a:t>
            </a:r>
            <a:r>
              <a:rPr lang="en-US" sz="800" dirty="0" err="1"/>
              <a:t>sẽ</a:t>
            </a:r>
            <a:r>
              <a:rPr lang="en-US" sz="800" dirty="0"/>
              <a:t> </a:t>
            </a:r>
            <a:r>
              <a:rPr lang="en-US" sz="800" dirty="0" err="1"/>
              <a:t>được</a:t>
            </a:r>
            <a:r>
              <a:rPr lang="en-US" sz="800" dirty="0"/>
              <a:t> </a:t>
            </a:r>
            <a:r>
              <a:rPr lang="en-US" sz="800" dirty="0" err="1"/>
              <a:t>lựa</a:t>
            </a:r>
            <a:r>
              <a:rPr lang="en-US" sz="800" dirty="0"/>
              <a:t> </a:t>
            </a:r>
            <a:r>
              <a:rPr lang="en-US" sz="800" dirty="0" err="1"/>
              <a:t>chọn</a:t>
            </a:r>
            <a:r>
              <a:rPr lang="en-US" sz="800" dirty="0"/>
              <a:t> </a:t>
            </a:r>
            <a:r>
              <a:rPr lang="en-US" sz="800" dirty="0" err="1"/>
              <a:t>đặc</a:t>
            </a:r>
            <a:r>
              <a:rPr lang="en-US" sz="800" dirty="0"/>
              <a:t> </a:t>
            </a:r>
            <a:r>
              <a:rPr lang="en-US" sz="800" dirty="0" err="1"/>
              <a:t>trưng</a:t>
            </a:r>
            <a:r>
              <a:rPr lang="en-US" sz="800" dirty="0"/>
              <a:t> </a:t>
            </a:r>
            <a:r>
              <a:rPr lang="en-US" sz="800" dirty="0" err="1"/>
              <a:t>chuyển</a:t>
            </a:r>
            <a:r>
              <a:rPr lang="en-US" sz="800" dirty="0"/>
              <a:t> </a:t>
            </a:r>
            <a:r>
              <a:rPr lang="en-US" sz="800" dirty="0" err="1"/>
              <a:t>đổi</a:t>
            </a:r>
            <a:r>
              <a:rPr lang="en-US" sz="800" dirty="0"/>
              <a:t> </a:t>
            </a:r>
            <a:r>
              <a:rPr lang="en-US" sz="800" dirty="0" err="1"/>
              <a:t>cho</a:t>
            </a:r>
            <a:r>
              <a:rPr lang="en-US" sz="800" dirty="0"/>
              <a:t> </a:t>
            </a:r>
            <a:r>
              <a:rPr lang="en-US" sz="800" dirty="0" err="1"/>
              <a:t>phù</a:t>
            </a:r>
            <a:r>
              <a:rPr lang="en-US" sz="800" dirty="0"/>
              <a:t> </a:t>
            </a:r>
            <a:r>
              <a:rPr lang="en-US" sz="800" dirty="0" err="1"/>
              <a:t>hợp</a:t>
            </a:r>
            <a:r>
              <a:rPr lang="en-US" sz="800" dirty="0"/>
              <a:t> </a:t>
            </a:r>
            <a:r>
              <a:rPr lang="en-US" sz="800" dirty="0" err="1"/>
              <a:t>theo</a:t>
            </a:r>
            <a:r>
              <a:rPr lang="en-US" sz="800" dirty="0"/>
              <a:t> </a:t>
            </a:r>
            <a:r>
              <a:rPr lang="en-US" sz="800" dirty="0" err="1"/>
              <a:t>từng</a:t>
            </a:r>
            <a:r>
              <a:rPr lang="en-US" sz="800" dirty="0"/>
              <a:t> </a:t>
            </a:r>
            <a:r>
              <a:rPr lang="en-US" sz="800" dirty="0" err="1"/>
              <a:t>bài</a:t>
            </a:r>
            <a:r>
              <a:rPr lang="en-US" sz="800" dirty="0"/>
              <a:t> </a:t>
            </a:r>
            <a:r>
              <a:rPr lang="en-US" sz="800" dirty="0" err="1"/>
              <a:t>toán</a:t>
            </a:r>
            <a:endParaRPr lang="en-US" sz="8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40A4664-4D71-59BC-E4FB-3DB5A1A1CBB7}"/>
              </a:ext>
            </a:extLst>
          </p:cNvPr>
          <p:cNvSpPr txBox="1"/>
          <p:nvPr/>
        </p:nvSpPr>
        <p:spPr>
          <a:xfrm>
            <a:off x="3927752" y="1119595"/>
            <a:ext cx="2409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 err="1">
                <a:solidFill>
                  <a:schemeClr val="accent5"/>
                </a:solidFill>
              </a:rPr>
              <a:t>Mô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hình</a:t>
            </a:r>
            <a:r>
              <a:rPr lang="en-US" sz="800" b="1" dirty="0">
                <a:solidFill>
                  <a:schemeClr val="accent5"/>
                </a:solidFill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b="1" dirty="0"/>
              <a:t>Logistic Regression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b="1" dirty="0"/>
              <a:t>Decision Tree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b="1" dirty="0"/>
              <a:t>Random Forest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65D3036A-B63F-831A-D32C-6C0786F64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551443"/>
              </p:ext>
            </p:extLst>
          </p:nvPr>
        </p:nvGraphicFramePr>
        <p:xfrm>
          <a:off x="3832467" y="1760652"/>
          <a:ext cx="3642949" cy="89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965">
                  <a:extLst>
                    <a:ext uri="{9D8B030D-6E8A-4147-A177-3AD203B41FA5}">
                      <a16:colId xmlns:a16="http://schemas.microsoft.com/office/drawing/2014/main" val="3269850717"/>
                    </a:ext>
                  </a:extLst>
                </a:gridCol>
                <a:gridCol w="617214">
                  <a:extLst>
                    <a:ext uri="{9D8B030D-6E8A-4147-A177-3AD203B41FA5}">
                      <a16:colId xmlns:a16="http://schemas.microsoft.com/office/drawing/2014/main" val="3238308737"/>
                    </a:ext>
                  </a:extLst>
                </a:gridCol>
                <a:gridCol w="728590">
                  <a:extLst>
                    <a:ext uri="{9D8B030D-6E8A-4147-A177-3AD203B41FA5}">
                      <a16:colId xmlns:a16="http://schemas.microsoft.com/office/drawing/2014/main" val="3952673311"/>
                    </a:ext>
                  </a:extLst>
                </a:gridCol>
                <a:gridCol w="728590">
                  <a:extLst>
                    <a:ext uri="{9D8B030D-6E8A-4147-A177-3AD203B41FA5}">
                      <a16:colId xmlns:a16="http://schemas.microsoft.com/office/drawing/2014/main" val="2253302792"/>
                    </a:ext>
                  </a:extLst>
                </a:gridCol>
                <a:gridCol w="728590">
                  <a:extLst>
                    <a:ext uri="{9D8B030D-6E8A-4147-A177-3AD203B41FA5}">
                      <a16:colId xmlns:a16="http://schemas.microsoft.com/office/drawing/2014/main" val="1265528084"/>
                    </a:ext>
                  </a:extLst>
                </a:gridCol>
              </a:tblGrid>
              <a:tr h="147946">
                <a:tc>
                  <a:txBody>
                    <a:bodyPr/>
                    <a:lstStyle/>
                    <a:p>
                      <a:pPr algn="ctr"/>
                      <a:r>
                        <a:rPr lang="en-US" sz="700" dirty="0" err="1"/>
                        <a:t>Mô</a:t>
                      </a:r>
                      <a:r>
                        <a:rPr lang="en-US" sz="700" dirty="0"/>
                        <a:t> </a:t>
                      </a:r>
                      <a:r>
                        <a:rPr lang="en-US" sz="700" dirty="0" err="1"/>
                        <a:t>hình</a:t>
                      </a:r>
                      <a:endParaRPr 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F1 –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AUC - ROC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17118"/>
                  </a:ext>
                </a:extLst>
              </a:tr>
              <a:tr h="219048">
                <a:tc>
                  <a:txBody>
                    <a:bodyPr/>
                    <a:lstStyle/>
                    <a:p>
                      <a:r>
                        <a:rPr lang="en-US" sz="700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0.79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27876"/>
                  </a:ext>
                </a:extLst>
              </a:tr>
              <a:tr h="163971">
                <a:tc>
                  <a:txBody>
                    <a:bodyPr/>
                    <a:lstStyle/>
                    <a:p>
                      <a:r>
                        <a:rPr lang="en-US" sz="700" dirty="0"/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069327"/>
                  </a:ext>
                </a:extLst>
              </a:tr>
              <a:tr h="147946">
                <a:tc>
                  <a:txBody>
                    <a:bodyPr/>
                    <a:lstStyle/>
                    <a:p>
                      <a:r>
                        <a:rPr lang="en-US" sz="700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755116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70A10522-8903-12A2-1B8C-E796E92EA30D}"/>
              </a:ext>
            </a:extLst>
          </p:cNvPr>
          <p:cNvSpPr txBox="1"/>
          <p:nvPr/>
        </p:nvSpPr>
        <p:spPr>
          <a:xfrm>
            <a:off x="3832467" y="2738746"/>
            <a:ext cx="3642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/>
              <a:t>Kết</a:t>
            </a:r>
            <a:r>
              <a:rPr lang="en-US" sz="800" b="1" dirty="0"/>
              <a:t> </a:t>
            </a:r>
            <a:r>
              <a:rPr lang="en-US" sz="800" b="1" dirty="0" err="1"/>
              <a:t>quả</a:t>
            </a:r>
            <a:r>
              <a:rPr lang="en-US" sz="800" b="1" dirty="0"/>
              <a:t>: </a:t>
            </a:r>
            <a:r>
              <a:rPr lang="en-US" sz="800" i="1" dirty="0"/>
              <a:t>Logistic </a:t>
            </a:r>
            <a:r>
              <a:rPr lang="en-US" sz="800" i="1" dirty="0" err="1"/>
              <a:t>Regerssion</a:t>
            </a:r>
            <a:r>
              <a:rPr lang="en-US" sz="800" dirty="0"/>
              <a:t> </a:t>
            </a:r>
            <a:r>
              <a:rPr lang="en-US" sz="800" dirty="0" err="1"/>
              <a:t>được</a:t>
            </a:r>
            <a:r>
              <a:rPr lang="en-US" sz="800" dirty="0"/>
              <a:t> </a:t>
            </a:r>
            <a:r>
              <a:rPr lang="en-US" sz="800" dirty="0" err="1"/>
              <a:t>lựa</a:t>
            </a:r>
            <a:r>
              <a:rPr lang="en-US" sz="800" dirty="0"/>
              <a:t> </a:t>
            </a:r>
            <a:r>
              <a:rPr lang="en-US" sz="800" dirty="0" err="1"/>
              <a:t>chọn</a:t>
            </a:r>
            <a:r>
              <a:rPr lang="en-US" sz="800" dirty="0"/>
              <a:t> </a:t>
            </a:r>
            <a:r>
              <a:rPr lang="en-US" sz="800" dirty="0" err="1"/>
              <a:t>cho</a:t>
            </a:r>
            <a:r>
              <a:rPr lang="en-US" sz="800" dirty="0"/>
              <a:t> </a:t>
            </a:r>
            <a:r>
              <a:rPr lang="en-US" sz="800" dirty="0" err="1"/>
              <a:t>việc</a:t>
            </a:r>
            <a:r>
              <a:rPr lang="en-US" sz="800" dirty="0"/>
              <a:t> </a:t>
            </a:r>
            <a:r>
              <a:rPr lang="en-US" sz="800" dirty="0" err="1"/>
              <a:t>dự</a:t>
            </a:r>
            <a:r>
              <a:rPr lang="en-US" sz="800" dirty="0"/>
              <a:t> </a:t>
            </a:r>
            <a:r>
              <a:rPr lang="en-US" sz="800" dirty="0" err="1"/>
              <a:t>đoán</a:t>
            </a:r>
            <a:r>
              <a:rPr lang="en-US" sz="800" dirty="0"/>
              <a:t> </a:t>
            </a:r>
            <a:r>
              <a:rPr lang="en-US" sz="800" dirty="0" err="1"/>
              <a:t>khả</a:t>
            </a:r>
            <a:r>
              <a:rPr lang="en-US" sz="800" dirty="0"/>
              <a:t> </a:t>
            </a:r>
            <a:r>
              <a:rPr lang="en-US" sz="800" dirty="0" err="1"/>
              <a:t>năng</a:t>
            </a:r>
            <a:r>
              <a:rPr lang="en-US" sz="800" dirty="0"/>
              <a:t> </a:t>
            </a:r>
            <a:r>
              <a:rPr lang="en-US" sz="800" dirty="0" err="1"/>
              <a:t>hủy</a:t>
            </a:r>
            <a:r>
              <a:rPr lang="en-US" sz="800" dirty="0"/>
              <a:t> </a:t>
            </a:r>
            <a:r>
              <a:rPr lang="en-US" sz="800" dirty="0" err="1"/>
              <a:t>phòng</a:t>
            </a:r>
            <a:r>
              <a:rPr lang="en-US" sz="800" dirty="0"/>
              <a:t> ban </a:t>
            </a:r>
            <a:r>
              <a:rPr lang="en-US" sz="800" dirty="0" err="1"/>
              <a:t>đầu</a:t>
            </a:r>
            <a:r>
              <a:rPr lang="en-US" sz="800" dirty="0"/>
              <a:t> do </a:t>
            </a:r>
            <a:r>
              <a:rPr lang="en-US" sz="800" dirty="0" err="1"/>
              <a:t>có</a:t>
            </a:r>
            <a:r>
              <a:rPr lang="en-US" sz="800" dirty="0"/>
              <a:t> </a:t>
            </a:r>
            <a:r>
              <a:rPr lang="en-US" sz="800" i="1" dirty="0"/>
              <a:t>Recall</a:t>
            </a:r>
            <a:r>
              <a:rPr lang="en-US" sz="800" dirty="0"/>
              <a:t> </a:t>
            </a:r>
            <a:r>
              <a:rPr lang="en-US" sz="800" dirty="0" err="1"/>
              <a:t>cao</a:t>
            </a:r>
            <a:r>
              <a:rPr lang="en-US" sz="800" dirty="0"/>
              <a:t> </a:t>
            </a:r>
            <a:r>
              <a:rPr lang="en-US" sz="800" dirty="0" err="1"/>
              <a:t>nhất</a:t>
            </a:r>
            <a:r>
              <a:rPr lang="en-US" sz="800" dirty="0"/>
              <a:t> </a:t>
            </a:r>
            <a:r>
              <a:rPr lang="en-US" sz="800" dirty="0" err="1"/>
              <a:t>và</a:t>
            </a:r>
            <a:r>
              <a:rPr lang="en-US" sz="800" dirty="0"/>
              <a:t> Random Forest </a:t>
            </a:r>
            <a:r>
              <a:rPr lang="en-US" sz="800" dirty="0" err="1"/>
              <a:t>được</a:t>
            </a:r>
            <a:r>
              <a:rPr lang="en-US" sz="800" dirty="0"/>
              <a:t> </a:t>
            </a:r>
            <a:r>
              <a:rPr lang="en-US" sz="800" dirty="0" err="1"/>
              <a:t>sử</a:t>
            </a:r>
            <a:r>
              <a:rPr lang="en-US" sz="800" dirty="0"/>
              <a:t> </a:t>
            </a:r>
            <a:r>
              <a:rPr lang="en-US" sz="800" dirty="0" err="1"/>
              <a:t>dụng</a:t>
            </a:r>
            <a:r>
              <a:rPr lang="en-US" sz="800" dirty="0"/>
              <a:t> </a:t>
            </a:r>
            <a:r>
              <a:rPr lang="en-US" sz="800" dirty="0" err="1"/>
              <a:t>để</a:t>
            </a:r>
            <a:r>
              <a:rPr lang="en-US" sz="800" dirty="0"/>
              <a:t> </a:t>
            </a:r>
            <a:r>
              <a:rPr lang="en-US" sz="800" dirty="0" err="1"/>
              <a:t>xác</a:t>
            </a:r>
            <a:r>
              <a:rPr lang="en-US" sz="800" dirty="0"/>
              <a:t> </a:t>
            </a:r>
            <a:r>
              <a:rPr lang="en-US" sz="800" dirty="0" err="1"/>
              <a:t>định</a:t>
            </a:r>
            <a:r>
              <a:rPr lang="en-US" sz="800" dirty="0"/>
              <a:t> </a:t>
            </a:r>
            <a:r>
              <a:rPr lang="en-US" sz="800" dirty="0" err="1"/>
              <a:t>các</a:t>
            </a:r>
            <a:r>
              <a:rPr lang="en-US" sz="800" dirty="0"/>
              <a:t> </a:t>
            </a:r>
            <a:r>
              <a:rPr lang="en-US" sz="800" dirty="0" err="1"/>
              <a:t>yếu</a:t>
            </a:r>
            <a:r>
              <a:rPr lang="en-US" sz="800" dirty="0"/>
              <a:t> </a:t>
            </a:r>
            <a:r>
              <a:rPr lang="en-US" sz="800" dirty="0" err="1"/>
              <a:t>tố</a:t>
            </a:r>
            <a:r>
              <a:rPr lang="en-US" sz="800" dirty="0"/>
              <a:t> </a:t>
            </a:r>
            <a:r>
              <a:rPr lang="en-US" sz="800" dirty="0" err="1"/>
              <a:t>quan</a:t>
            </a:r>
            <a:r>
              <a:rPr lang="en-US" sz="800" dirty="0"/>
              <a:t> </a:t>
            </a:r>
            <a:r>
              <a:rPr lang="en-US" sz="800" dirty="0" err="1"/>
              <a:t>trọng</a:t>
            </a:r>
            <a:r>
              <a:rPr lang="en-US" sz="800" dirty="0"/>
              <a:t> (</a:t>
            </a:r>
            <a:r>
              <a:rPr lang="en-US" sz="800" i="1" dirty="0"/>
              <a:t>AUC - ROC</a:t>
            </a:r>
            <a:r>
              <a:rPr lang="en-US" sz="800" dirty="0"/>
              <a:t>)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4658492-4D38-37F8-B677-048B4EB3F6B3}"/>
              </a:ext>
            </a:extLst>
          </p:cNvPr>
          <p:cNvCxnSpPr>
            <a:cxnSpLocks/>
          </p:cNvCxnSpPr>
          <p:nvPr/>
        </p:nvCxnSpPr>
        <p:spPr>
          <a:xfrm>
            <a:off x="7855789" y="1043796"/>
            <a:ext cx="0" cy="53874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9" name="Picture 128">
            <a:extLst>
              <a:ext uri="{FF2B5EF4-FFF2-40B4-BE49-F238E27FC236}">
                <a16:creationId xmlns:a16="http://schemas.microsoft.com/office/drawing/2014/main" id="{5C4F5EA6-5460-BB45-48F1-8D30182B11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261" y="3236535"/>
            <a:ext cx="1544873" cy="1049377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8C50D1DC-E683-8FF6-6F57-085BD878B58C}"/>
              </a:ext>
            </a:extLst>
          </p:cNvPr>
          <p:cNvSpPr txBox="1"/>
          <p:nvPr/>
        </p:nvSpPr>
        <p:spPr>
          <a:xfrm>
            <a:off x="5495309" y="3568261"/>
            <a:ext cx="2170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 err="1"/>
              <a:t>Yế</a:t>
            </a:r>
            <a:r>
              <a:rPr lang="vi-VN" sz="800" i="1" dirty="0"/>
              <a:t>u tố thời gian và nhu cầu cụ thể của khách ảnh hưởng mạnh hơn giá phòng</a:t>
            </a:r>
            <a:r>
              <a:rPr lang="vi-VN" sz="800" dirty="0"/>
              <a:t>.</a:t>
            </a:r>
            <a:endParaRPr lang="en-US" sz="8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40FE9D2-84D8-987B-9415-C333CFE386AD}"/>
              </a:ext>
            </a:extLst>
          </p:cNvPr>
          <p:cNvSpPr txBox="1"/>
          <p:nvPr/>
        </p:nvSpPr>
        <p:spPr>
          <a:xfrm>
            <a:off x="5765483" y="1104760"/>
            <a:ext cx="2409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 err="1">
                <a:solidFill>
                  <a:schemeClr val="accent5"/>
                </a:solidFill>
              </a:rPr>
              <a:t>Xử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lý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mất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cân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bằng</a:t>
            </a:r>
            <a:r>
              <a:rPr lang="en-US" sz="800" b="1" dirty="0">
                <a:solidFill>
                  <a:schemeClr val="accent5"/>
                </a:solidFill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b="1" dirty="0" err="1"/>
              <a:t>Class_weight</a:t>
            </a:r>
            <a:r>
              <a:rPr lang="en-US" sz="800" b="1" dirty="0"/>
              <a:t> = “balance”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36A8CB3-BF86-CAD3-4557-11DFB3AE8E11}"/>
              </a:ext>
            </a:extLst>
          </p:cNvPr>
          <p:cNvSpPr txBox="1"/>
          <p:nvPr/>
        </p:nvSpPr>
        <p:spPr>
          <a:xfrm>
            <a:off x="3879297" y="4323468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5.Phân </a:t>
            </a:r>
            <a:r>
              <a:rPr lang="en-US" sz="1100" b="1" dirty="0" err="1"/>
              <a:t>cụm</a:t>
            </a:r>
            <a:r>
              <a:rPr lang="en-US" sz="1100" b="1" dirty="0"/>
              <a:t> </a:t>
            </a:r>
            <a:r>
              <a:rPr lang="en-US" sz="1100" b="1" dirty="0" err="1"/>
              <a:t>khách</a:t>
            </a:r>
            <a:r>
              <a:rPr lang="en-US" sz="1100" b="1" dirty="0"/>
              <a:t> </a:t>
            </a:r>
            <a:r>
              <a:rPr lang="en-US" sz="1100" b="1" dirty="0" err="1"/>
              <a:t>hàng</a:t>
            </a:r>
            <a:endParaRPr lang="en-US" sz="11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56516FA-706F-A069-D15D-7C678C67954D}"/>
              </a:ext>
            </a:extLst>
          </p:cNvPr>
          <p:cNvSpPr txBox="1"/>
          <p:nvPr/>
        </p:nvSpPr>
        <p:spPr>
          <a:xfrm>
            <a:off x="3811788" y="4547056"/>
            <a:ext cx="126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 err="1">
                <a:solidFill>
                  <a:schemeClr val="accent5"/>
                </a:solidFill>
              </a:rPr>
              <a:t>Mô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hình</a:t>
            </a:r>
            <a:r>
              <a:rPr lang="en-US" sz="800" b="1" dirty="0">
                <a:solidFill>
                  <a:schemeClr val="accent5"/>
                </a:solidFill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b="1" dirty="0"/>
              <a:t>K-Means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4FD5FFB-7797-C206-643A-5AD3EEB60C58}"/>
              </a:ext>
            </a:extLst>
          </p:cNvPr>
          <p:cNvSpPr txBox="1"/>
          <p:nvPr/>
        </p:nvSpPr>
        <p:spPr>
          <a:xfrm>
            <a:off x="5103058" y="4527790"/>
            <a:ext cx="126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solidFill>
                  <a:schemeClr val="accent5"/>
                </a:solidFill>
              </a:rPr>
              <a:t>K </a:t>
            </a:r>
            <a:r>
              <a:rPr lang="en-US" sz="800" b="1" dirty="0" err="1">
                <a:solidFill>
                  <a:schemeClr val="accent5"/>
                </a:solidFill>
              </a:rPr>
              <a:t>tốt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nhất</a:t>
            </a:r>
            <a:r>
              <a:rPr lang="en-US" sz="800" b="1" dirty="0">
                <a:solidFill>
                  <a:schemeClr val="accent5"/>
                </a:solidFill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b="1" dirty="0"/>
              <a:t>6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154EC81-0FE3-70CF-2E9C-6C7AB5481635}"/>
              </a:ext>
            </a:extLst>
          </p:cNvPr>
          <p:cNvSpPr txBox="1"/>
          <p:nvPr/>
        </p:nvSpPr>
        <p:spPr>
          <a:xfrm>
            <a:off x="6190729" y="4495843"/>
            <a:ext cx="198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 err="1">
                <a:solidFill>
                  <a:schemeClr val="accent5"/>
                </a:solidFill>
              </a:rPr>
              <a:t>Lựa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chọn</a:t>
            </a:r>
            <a:r>
              <a:rPr lang="en-US" sz="800" b="1" dirty="0">
                <a:solidFill>
                  <a:schemeClr val="accent5"/>
                </a:solidFill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b="1" dirty="0"/>
              <a:t>Elbow + </a:t>
            </a:r>
            <a:r>
              <a:rPr lang="en-US" sz="800" b="1" dirty="0" err="1"/>
              <a:t>Sihouette</a:t>
            </a:r>
            <a:endParaRPr lang="en-US" sz="800" b="1" dirty="0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FA3E54C-667A-EED2-0995-8A707F088A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152" y="4896471"/>
            <a:ext cx="2094726" cy="1039434"/>
          </a:xfrm>
          <a:prstGeom prst="rect">
            <a:avLst/>
          </a:prstGeom>
        </p:spPr>
      </p:pic>
      <p:pic>
        <p:nvPicPr>
          <p:cNvPr id="137" name="Picture 2">
            <a:extLst>
              <a:ext uri="{FF2B5EF4-FFF2-40B4-BE49-F238E27FC236}">
                <a16:creationId xmlns:a16="http://schemas.microsoft.com/office/drawing/2014/main" id="{01E52EF0-3434-74B6-3954-0AEFC744F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248" y="4880010"/>
            <a:ext cx="1562171" cy="101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88B2410D-7F27-61E6-8F76-03890D2B0FE2}"/>
              </a:ext>
            </a:extLst>
          </p:cNvPr>
          <p:cNvSpPr txBox="1"/>
          <p:nvPr/>
        </p:nvSpPr>
        <p:spPr>
          <a:xfrm>
            <a:off x="3841035" y="5908744"/>
            <a:ext cx="1878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solidFill>
                  <a:schemeClr val="accent5"/>
                </a:solidFill>
              </a:rPr>
              <a:t>Các </a:t>
            </a:r>
            <a:r>
              <a:rPr lang="en-US" sz="800" b="1" dirty="0" err="1">
                <a:solidFill>
                  <a:schemeClr val="accent5"/>
                </a:solidFill>
              </a:rPr>
              <a:t>đặc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trưng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được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lựa</a:t>
            </a:r>
            <a:r>
              <a:rPr lang="en-US" sz="800" b="1" dirty="0">
                <a:solidFill>
                  <a:schemeClr val="accent5"/>
                </a:solidFill>
              </a:rPr>
              <a:t> </a:t>
            </a:r>
            <a:r>
              <a:rPr lang="en-US" sz="800" b="1" dirty="0" err="1">
                <a:solidFill>
                  <a:schemeClr val="accent5"/>
                </a:solidFill>
              </a:rPr>
              <a:t>chọn</a:t>
            </a:r>
            <a:r>
              <a:rPr lang="en-US" sz="800" b="1" dirty="0">
                <a:solidFill>
                  <a:schemeClr val="accent5"/>
                </a:solidFill>
              </a:rPr>
              <a:t>:</a:t>
            </a:r>
          </a:p>
          <a:p>
            <a:pPr lvl="1"/>
            <a:endParaRPr 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709F642-3EAF-42A7-72AC-FF98DB563CA1}"/>
              </a:ext>
            </a:extLst>
          </p:cNvPr>
          <p:cNvSpPr txBox="1"/>
          <p:nvPr/>
        </p:nvSpPr>
        <p:spPr>
          <a:xfrm>
            <a:off x="7974169" y="961483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6. </a:t>
            </a:r>
            <a:r>
              <a:rPr lang="en-US" sz="1100" b="1" dirty="0" err="1"/>
              <a:t>Phân</a:t>
            </a:r>
            <a:r>
              <a:rPr lang="en-US" sz="1100" b="1" dirty="0"/>
              <a:t> </a:t>
            </a:r>
            <a:r>
              <a:rPr lang="en-US" sz="1100" b="1" dirty="0" err="1"/>
              <a:t>khúc</a:t>
            </a:r>
            <a:r>
              <a:rPr lang="en-US" sz="1100" b="1" dirty="0"/>
              <a:t> </a:t>
            </a:r>
            <a:r>
              <a:rPr lang="en-US" sz="1100" b="1" dirty="0" err="1"/>
              <a:t>khách</a:t>
            </a:r>
            <a:r>
              <a:rPr lang="en-US" sz="1100" b="1" dirty="0"/>
              <a:t> </a:t>
            </a:r>
            <a:r>
              <a:rPr lang="en-US" sz="1100" b="1" dirty="0" err="1"/>
              <a:t>hàng</a:t>
            </a:r>
            <a:endParaRPr lang="en-US" sz="1100" b="1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F69A331-97CF-6845-D6AB-51B3E8D20CB4}"/>
              </a:ext>
            </a:extLst>
          </p:cNvPr>
          <p:cNvSpPr txBox="1"/>
          <p:nvPr/>
        </p:nvSpPr>
        <p:spPr>
          <a:xfrm>
            <a:off x="8043160" y="1209282"/>
            <a:ext cx="6096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 err="1">
                <a:solidFill>
                  <a:srgbClr val="FF0000"/>
                </a:solidFill>
              </a:rPr>
              <a:t>Khách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công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tác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ngắn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ngày</a:t>
            </a:r>
            <a:r>
              <a:rPr lang="en-US" sz="700" b="1" dirty="0">
                <a:solidFill>
                  <a:srgbClr val="FF0000"/>
                </a:solidFill>
              </a:rPr>
              <a:t>, </a:t>
            </a:r>
            <a:r>
              <a:rPr lang="en-US" sz="700" b="1" dirty="0" err="1">
                <a:solidFill>
                  <a:srgbClr val="FF0000"/>
                </a:solidFill>
              </a:rPr>
              <a:t>ổn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định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quanh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năm</a:t>
            </a:r>
            <a:endParaRPr lang="en-US" sz="700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700" b="1" dirty="0" err="1"/>
              <a:t>Thời</a:t>
            </a:r>
            <a:r>
              <a:rPr lang="en-US" sz="700" b="1" dirty="0"/>
              <a:t> </a:t>
            </a:r>
            <a:r>
              <a:rPr lang="en-US" sz="700" b="1" dirty="0" err="1"/>
              <a:t>gian</a:t>
            </a:r>
            <a:r>
              <a:rPr lang="en-US" sz="700" b="1" dirty="0"/>
              <a:t> </a:t>
            </a:r>
            <a:r>
              <a:rPr lang="en-US" sz="700" b="1" dirty="0" err="1"/>
              <a:t>lưu</a:t>
            </a:r>
            <a:r>
              <a:rPr lang="en-US" sz="700" b="1" dirty="0"/>
              <a:t> </a:t>
            </a:r>
            <a:r>
              <a:rPr lang="en-US" sz="700" b="1" dirty="0" err="1"/>
              <a:t>trú</a:t>
            </a:r>
            <a:r>
              <a:rPr lang="en-US" sz="700" b="1" dirty="0"/>
              <a:t> </a:t>
            </a:r>
            <a:r>
              <a:rPr lang="en-US" sz="700" b="1" dirty="0" err="1"/>
              <a:t>ngắn</a:t>
            </a:r>
            <a:r>
              <a:rPr lang="en-US" sz="700" b="1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sz="700" b="1" dirty="0" err="1"/>
              <a:t>Ít</a:t>
            </a:r>
            <a:r>
              <a:rPr lang="en-US" sz="700" b="1" dirty="0"/>
              <a:t> </a:t>
            </a:r>
            <a:r>
              <a:rPr lang="en-US" sz="700" b="1" dirty="0" err="1"/>
              <a:t>bị</a:t>
            </a:r>
            <a:r>
              <a:rPr lang="en-US" sz="700" b="1" dirty="0"/>
              <a:t> </a:t>
            </a:r>
            <a:r>
              <a:rPr lang="en-US" sz="700" b="1" dirty="0" err="1"/>
              <a:t>ảnh</a:t>
            </a:r>
            <a:r>
              <a:rPr lang="en-US" sz="700" b="1" dirty="0"/>
              <a:t> </a:t>
            </a:r>
            <a:r>
              <a:rPr lang="en-US" sz="700" b="1" dirty="0" err="1"/>
              <a:t>hưởng</a:t>
            </a:r>
            <a:r>
              <a:rPr lang="en-US" sz="700" b="1" dirty="0"/>
              <a:t> </a:t>
            </a:r>
            <a:r>
              <a:rPr lang="en-US" sz="700" b="1" dirty="0" err="1"/>
              <a:t>bởi</a:t>
            </a:r>
            <a:r>
              <a:rPr lang="en-US" sz="700" b="1" dirty="0"/>
              <a:t> </a:t>
            </a:r>
            <a:r>
              <a:rPr lang="en-US" sz="700" b="1" dirty="0" err="1"/>
              <a:t>mùa</a:t>
            </a:r>
            <a:r>
              <a:rPr lang="en-US" sz="700" b="1" dirty="0"/>
              <a:t> </a:t>
            </a:r>
            <a:r>
              <a:rPr lang="en-US" sz="700" b="1" dirty="0" err="1"/>
              <a:t>vụ</a:t>
            </a:r>
            <a:endParaRPr lang="en-US" sz="700" b="1" dirty="0"/>
          </a:p>
          <a:p>
            <a:r>
              <a:rPr lang="en-US" sz="700" b="1" dirty="0" err="1">
                <a:solidFill>
                  <a:srgbClr val="FF0000"/>
                </a:solidFill>
              </a:rPr>
              <a:t>Khách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theo</a:t>
            </a:r>
            <a:r>
              <a:rPr lang="en-US" sz="700" b="1" dirty="0">
                <a:solidFill>
                  <a:srgbClr val="FF0000"/>
                </a:solidFill>
              </a:rPr>
              <a:t> tour </a:t>
            </a:r>
            <a:r>
              <a:rPr lang="en-US" sz="700" b="1" dirty="0" err="1">
                <a:solidFill>
                  <a:srgbClr val="FF0000"/>
                </a:solidFill>
              </a:rPr>
              <a:t>đặt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sớm</a:t>
            </a:r>
            <a:r>
              <a:rPr lang="en-US" sz="700" b="1" dirty="0">
                <a:solidFill>
                  <a:srgbClr val="FF0000"/>
                </a:solidFill>
              </a:rPr>
              <a:t>, </a:t>
            </a:r>
            <a:r>
              <a:rPr lang="en-US" sz="700" b="1" dirty="0" err="1">
                <a:solidFill>
                  <a:srgbClr val="FF0000"/>
                </a:solidFill>
              </a:rPr>
              <a:t>tránh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mùa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đông</a:t>
            </a:r>
            <a:endParaRPr lang="vi-VN" sz="7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700" b="1" dirty="0" err="1"/>
              <a:t>Thời</a:t>
            </a:r>
            <a:r>
              <a:rPr lang="en-US" sz="700" b="1" dirty="0"/>
              <a:t> </a:t>
            </a:r>
            <a:r>
              <a:rPr lang="en-US" sz="700" b="1" dirty="0" err="1"/>
              <a:t>gian</a:t>
            </a:r>
            <a:r>
              <a:rPr lang="en-US" sz="700" b="1" dirty="0"/>
              <a:t> </a:t>
            </a:r>
            <a:r>
              <a:rPr lang="en-US" sz="700" b="1" dirty="0" err="1"/>
              <a:t>đặt</a:t>
            </a:r>
            <a:r>
              <a:rPr lang="en-US" sz="700" b="1" dirty="0"/>
              <a:t> </a:t>
            </a:r>
            <a:r>
              <a:rPr lang="en-US" sz="700" b="1" dirty="0" err="1"/>
              <a:t>trước</a:t>
            </a:r>
            <a:r>
              <a:rPr lang="en-US" sz="700" b="1" dirty="0"/>
              <a:t> </a:t>
            </a:r>
            <a:r>
              <a:rPr lang="en-US" sz="700" b="1" dirty="0" err="1"/>
              <a:t>dài</a:t>
            </a:r>
            <a:endParaRPr lang="en-US" sz="700" b="1" dirty="0"/>
          </a:p>
          <a:p>
            <a:pPr marL="285750" indent="-285750">
              <a:buFontTx/>
              <a:buChar char="-"/>
            </a:pPr>
            <a:r>
              <a:rPr lang="en-US" sz="700" b="1" dirty="0" err="1"/>
              <a:t>Tránh</a:t>
            </a:r>
            <a:r>
              <a:rPr lang="en-US" sz="700" b="1" dirty="0"/>
              <a:t> </a:t>
            </a:r>
            <a:r>
              <a:rPr lang="en-US" sz="700" b="1" dirty="0" err="1"/>
              <a:t>mùa</a:t>
            </a:r>
            <a:r>
              <a:rPr lang="en-US" sz="700" b="1" dirty="0"/>
              <a:t> </a:t>
            </a:r>
            <a:r>
              <a:rPr lang="en-US" sz="700" b="1" dirty="0" err="1"/>
              <a:t>đông</a:t>
            </a:r>
            <a:endParaRPr lang="en-US" sz="700" b="1" dirty="0"/>
          </a:p>
          <a:p>
            <a:r>
              <a:rPr lang="en-US" sz="700" b="1" dirty="0" err="1">
                <a:solidFill>
                  <a:srgbClr val="FF0000"/>
                </a:solidFill>
              </a:rPr>
              <a:t>Khách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đại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trà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nhạy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với</a:t>
            </a:r>
            <a:r>
              <a:rPr lang="en-US" sz="700" b="1" dirty="0">
                <a:solidFill>
                  <a:srgbClr val="FF0000"/>
                </a:solidFill>
              </a:rPr>
              <a:t> marketing </a:t>
            </a:r>
            <a:r>
              <a:rPr lang="en-US" sz="700" b="1" dirty="0" err="1">
                <a:solidFill>
                  <a:srgbClr val="FF0000"/>
                </a:solidFill>
              </a:rPr>
              <a:t>mùa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vụ</a:t>
            </a:r>
            <a:endParaRPr lang="vi-VN" sz="700" b="1" dirty="0">
              <a:solidFill>
                <a:srgbClr val="FF0000"/>
              </a:solidFill>
            </a:endParaRPr>
          </a:p>
          <a:p>
            <a:r>
              <a:rPr lang="en-US" sz="700" b="1" dirty="0"/>
              <a:t>- </a:t>
            </a:r>
            <a:r>
              <a:rPr lang="en-US" sz="700" b="1" dirty="0" err="1"/>
              <a:t>Đặt</a:t>
            </a:r>
            <a:r>
              <a:rPr lang="en-US" sz="700" b="1" dirty="0"/>
              <a:t> </a:t>
            </a:r>
            <a:r>
              <a:rPr lang="en-US" sz="700" b="1" dirty="0" err="1"/>
              <a:t>theo</a:t>
            </a:r>
            <a:r>
              <a:rPr lang="en-US" sz="700" b="1" dirty="0"/>
              <a:t> </a:t>
            </a:r>
            <a:r>
              <a:rPr lang="en-US" sz="700" b="1" dirty="0" err="1"/>
              <a:t>mùa</a:t>
            </a:r>
            <a:r>
              <a:rPr lang="en-US" sz="700" b="1" dirty="0"/>
              <a:t> </a:t>
            </a:r>
            <a:r>
              <a:rPr lang="en-US" sz="700" b="1" dirty="0" err="1"/>
              <a:t>cao</a:t>
            </a:r>
            <a:r>
              <a:rPr lang="en-US" sz="700" b="1" dirty="0"/>
              <a:t> </a:t>
            </a:r>
            <a:r>
              <a:rPr lang="en-US" sz="700" b="1" dirty="0" err="1"/>
              <a:t>và</a:t>
            </a:r>
            <a:r>
              <a:rPr lang="en-US" sz="700" b="1" dirty="0"/>
              <a:t> </a:t>
            </a:r>
            <a:r>
              <a:rPr lang="en-US" sz="700" b="1" dirty="0" err="1"/>
              <a:t>thấp</a:t>
            </a:r>
            <a:r>
              <a:rPr lang="en-US" sz="700" b="1" dirty="0"/>
              <a:t> </a:t>
            </a:r>
            <a:r>
              <a:rPr lang="en-US" sz="700" b="1" dirty="0" err="1"/>
              <a:t>điểm</a:t>
            </a:r>
            <a:endParaRPr lang="en-US" sz="700" b="1" dirty="0"/>
          </a:p>
          <a:p>
            <a:r>
              <a:rPr lang="en-US" sz="700" b="1" dirty="0" err="1">
                <a:solidFill>
                  <a:srgbClr val="FF0000"/>
                </a:solidFill>
              </a:rPr>
              <a:t>Khách</a:t>
            </a:r>
            <a:r>
              <a:rPr lang="en-US" sz="700" b="1" dirty="0">
                <a:solidFill>
                  <a:srgbClr val="FF0000"/>
                </a:solidFill>
              </a:rPr>
              <a:t> du </a:t>
            </a:r>
            <a:r>
              <a:rPr lang="en-US" sz="700" b="1" dirty="0" err="1">
                <a:solidFill>
                  <a:srgbClr val="FF0000"/>
                </a:solidFill>
              </a:rPr>
              <a:t>lịch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cao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điểm</a:t>
            </a:r>
            <a:endParaRPr lang="en-US" sz="700" b="1" dirty="0">
              <a:solidFill>
                <a:srgbClr val="FF0000"/>
              </a:solidFill>
            </a:endParaRPr>
          </a:p>
          <a:p>
            <a:r>
              <a:rPr lang="en-US" sz="700" b="1" dirty="0"/>
              <a:t>- </a:t>
            </a:r>
            <a:r>
              <a:rPr lang="en-US" sz="700" b="1" dirty="0" err="1"/>
              <a:t>Tập</a:t>
            </a:r>
            <a:r>
              <a:rPr lang="en-US" sz="700" b="1" dirty="0"/>
              <a:t> </a:t>
            </a:r>
            <a:r>
              <a:rPr lang="en-US" sz="700" b="1" dirty="0" err="1"/>
              <a:t>trung</a:t>
            </a:r>
            <a:r>
              <a:rPr lang="en-US" sz="700" b="1" dirty="0"/>
              <a:t> du </a:t>
            </a:r>
            <a:r>
              <a:rPr lang="en-US" sz="700" b="1" dirty="0" err="1"/>
              <a:t>lịch</a:t>
            </a:r>
            <a:r>
              <a:rPr lang="en-US" sz="700" b="1" dirty="0"/>
              <a:t> </a:t>
            </a:r>
            <a:r>
              <a:rPr lang="en-US" sz="700" b="1" dirty="0" err="1"/>
              <a:t>vào</a:t>
            </a:r>
            <a:r>
              <a:rPr lang="en-US" sz="700" b="1" dirty="0"/>
              <a:t> </a:t>
            </a:r>
            <a:r>
              <a:rPr lang="en-US" sz="700" b="1" dirty="0" err="1"/>
              <a:t>hè</a:t>
            </a:r>
            <a:r>
              <a:rPr lang="en-US" sz="700" b="1" dirty="0"/>
              <a:t> </a:t>
            </a:r>
            <a:r>
              <a:rPr lang="en-US" sz="700" b="1" dirty="0" err="1"/>
              <a:t>và</a:t>
            </a:r>
            <a:r>
              <a:rPr lang="en-US" sz="700" b="1" dirty="0"/>
              <a:t> </a:t>
            </a:r>
            <a:r>
              <a:rPr lang="en-US" sz="700" b="1" dirty="0" err="1"/>
              <a:t>lễ</a:t>
            </a:r>
            <a:r>
              <a:rPr lang="en-US" sz="700" b="1" dirty="0"/>
              <a:t> </a:t>
            </a:r>
          </a:p>
          <a:p>
            <a:r>
              <a:rPr lang="en-US" sz="700" b="1" dirty="0">
                <a:solidFill>
                  <a:srgbClr val="FF0000"/>
                </a:solidFill>
              </a:rPr>
              <a:t>Gia </a:t>
            </a:r>
            <a:r>
              <a:rPr lang="en-US" sz="700" b="1" dirty="0" err="1">
                <a:solidFill>
                  <a:srgbClr val="FF0000"/>
                </a:solidFill>
              </a:rPr>
              <a:t>đình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nhóm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nhỏ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nghỉ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hè</a:t>
            </a:r>
            <a:endParaRPr lang="en-US" sz="7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700" b="1" dirty="0" err="1"/>
              <a:t>Gắn</a:t>
            </a:r>
            <a:r>
              <a:rPr lang="en-US" sz="700" b="1" dirty="0"/>
              <a:t> </a:t>
            </a:r>
            <a:r>
              <a:rPr lang="en-US" sz="700" b="1" dirty="0" err="1"/>
              <a:t>chặt</a:t>
            </a:r>
            <a:r>
              <a:rPr lang="en-US" sz="700" b="1" dirty="0"/>
              <a:t> </a:t>
            </a:r>
            <a:r>
              <a:rPr lang="en-US" sz="700" b="1" dirty="0" err="1"/>
              <a:t>với</a:t>
            </a:r>
            <a:r>
              <a:rPr lang="en-US" sz="700" b="1" dirty="0"/>
              <a:t> </a:t>
            </a:r>
            <a:r>
              <a:rPr lang="en-US" sz="700" b="1" dirty="0" err="1"/>
              <a:t>nghỉ</a:t>
            </a:r>
            <a:r>
              <a:rPr lang="en-US" sz="700" b="1" dirty="0"/>
              <a:t> </a:t>
            </a:r>
            <a:r>
              <a:rPr lang="en-US" sz="700" b="1" dirty="0" err="1"/>
              <a:t>hè</a:t>
            </a:r>
            <a:endParaRPr lang="en-US" sz="700" b="1" dirty="0"/>
          </a:p>
          <a:p>
            <a:pPr marL="285750" indent="-285750">
              <a:buFontTx/>
              <a:buChar char="-"/>
            </a:pPr>
            <a:r>
              <a:rPr lang="en-US" sz="700" b="1" dirty="0" err="1"/>
              <a:t>Thời</a:t>
            </a:r>
            <a:r>
              <a:rPr lang="en-US" sz="700" b="1" dirty="0"/>
              <a:t> </a:t>
            </a:r>
            <a:r>
              <a:rPr lang="en-US" sz="700" b="1" dirty="0" err="1"/>
              <a:t>gian</a:t>
            </a:r>
            <a:r>
              <a:rPr lang="en-US" sz="700" b="1" dirty="0"/>
              <a:t> </a:t>
            </a:r>
            <a:r>
              <a:rPr lang="en-US" sz="700" b="1" dirty="0" err="1"/>
              <a:t>lưu</a:t>
            </a:r>
            <a:r>
              <a:rPr lang="en-US" sz="700" b="1" dirty="0"/>
              <a:t> </a:t>
            </a:r>
            <a:r>
              <a:rPr lang="en-US" sz="700" b="1" dirty="0" err="1"/>
              <a:t>trú</a:t>
            </a:r>
            <a:r>
              <a:rPr lang="en-US" sz="700" b="1" dirty="0"/>
              <a:t> </a:t>
            </a:r>
            <a:r>
              <a:rPr lang="en-US" sz="700" b="1" dirty="0" err="1"/>
              <a:t>dài</a:t>
            </a:r>
            <a:r>
              <a:rPr lang="en-US" sz="700" b="1" dirty="0"/>
              <a:t> </a:t>
            </a:r>
            <a:r>
              <a:rPr lang="en-US" sz="700" b="1" dirty="0" err="1"/>
              <a:t>hơn</a:t>
            </a:r>
            <a:r>
              <a:rPr lang="en-US" sz="700" b="1" dirty="0"/>
              <a:t> </a:t>
            </a:r>
            <a:r>
              <a:rPr lang="en-US" sz="700" b="1" dirty="0" err="1"/>
              <a:t>trung</a:t>
            </a:r>
            <a:r>
              <a:rPr lang="en-US" sz="700" b="1" dirty="0"/>
              <a:t> </a:t>
            </a:r>
            <a:r>
              <a:rPr lang="en-US" sz="700" b="1" dirty="0" err="1"/>
              <a:t>bình</a:t>
            </a:r>
            <a:endParaRPr lang="en-US" sz="700" b="1" dirty="0"/>
          </a:p>
          <a:p>
            <a:r>
              <a:rPr lang="en-US" sz="700" b="1" dirty="0">
                <a:solidFill>
                  <a:srgbClr val="FF0000"/>
                </a:solidFill>
              </a:rPr>
              <a:t>Linh </a:t>
            </a:r>
            <a:r>
              <a:rPr lang="en-US" sz="700" b="1" dirty="0" err="1">
                <a:solidFill>
                  <a:srgbClr val="FF0000"/>
                </a:solidFill>
              </a:rPr>
              <a:t>hoạt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lấp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đầy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mùa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thấp</a:t>
            </a:r>
            <a:r>
              <a:rPr lang="en-US" sz="700" b="1" dirty="0">
                <a:solidFill>
                  <a:srgbClr val="FF0000"/>
                </a:solidFill>
              </a:rPr>
              <a:t> </a:t>
            </a:r>
            <a:r>
              <a:rPr lang="en-US" sz="700" b="1" dirty="0" err="1">
                <a:solidFill>
                  <a:srgbClr val="FF0000"/>
                </a:solidFill>
              </a:rPr>
              <a:t>điểm</a:t>
            </a:r>
            <a:endParaRPr lang="en-US" sz="700" b="1" dirty="0">
              <a:solidFill>
                <a:srgbClr val="FF0000"/>
              </a:solidFill>
            </a:endParaRPr>
          </a:p>
          <a:p>
            <a:r>
              <a:rPr lang="en-US" sz="700" b="1" dirty="0"/>
              <a:t>-     Linh </a:t>
            </a:r>
            <a:r>
              <a:rPr lang="en-US" sz="700" b="1" dirty="0" err="1"/>
              <a:t>hoạt</a:t>
            </a:r>
            <a:r>
              <a:rPr lang="en-US" sz="700" b="1" dirty="0"/>
              <a:t> </a:t>
            </a:r>
            <a:r>
              <a:rPr lang="en-US" sz="700" b="1" dirty="0" err="1"/>
              <a:t>về</a:t>
            </a:r>
            <a:r>
              <a:rPr lang="en-US" sz="700" b="1" dirty="0"/>
              <a:t> </a:t>
            </a:r>
            <a:r>
              <a:rPr lang="en-US" sz="700" b="1" dirty="0" err="1"/>
              <a:t>thời</a:t>
            </a:r>
            <a:r>
              <a:rPr lang="en-US" sz="700" b="1" dirty="0"/>
              <a:t> </a:t>
            </a:r>
            <a:r>
              <a:rPr lang="en-US" sz="700" b="1" dirty="0" err="1"/>
              <a:t>gian</a:t>
            </a:r>
            <a:endParaRPr lang="en-US" sz="700" b="1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D3A4CB8-B098-1774-2255-257296BB6BAF}"/>
              </a:ext>
            </a:extLst>
          </p:cNvPr>
          <p:cNvSpPr txBox="1"/>
          <p:nvPr/>
        </p:nvSpPr>
        <p:spPr>
          <a:xfrm>
            <a:off x="10145975" y="983675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7. </a:t>
            </a:r>
            <a:r>
              <a:rPr lang="en-US" sz="1100" b="1" dirty="0" err="1"/>
              <a:t>Luật</a:t>
            </a:r>
            <a:r>
              <a:rPr lang="en-US" sz="1100" b="1" dirty="0"/>
              <a:t> </a:t>
            </a:r>
            <a:r>
              <a:rPr lang="en-US" sz="1100" b="1" dirty="0" err="1"/>
              <a:t>kết</a:t>
            </a:r>
            <a:r>
              <a:rPr lang="en-US" sz="1100" b="1" dirty="0"/>
              <a:t> </a:t>
            </a:r>
            <a:r>
              <a:rPr lang="en-US" sz="1100" b="1" dirty="0" err="1"/>
              <a:t>hợp</a:t>
            </a:r>
            <a:r>
              <a:rPr lang="en-US" sz="1100" b="1" dirty="0"/>
              <a:t> </a:t>
            </a: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22B7BF4A-B38D-94B4-4BCF-9473A35722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759" y="1866771"/>
            <a:ext cx="2011680" cy="1336601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2E505EE9-FE74-08D4-AE4B-815D6109EB03}"/>
              </a:ext>
            </a:extLst>
          </p:cNvPr>
          <p:cNvSpPr txBox="1"/>
          <p:nvPr/>
        </p:nvSpPr>
        <p:spPr>
          <a:xfrm>
            <a:off x="10058759" y="1398365"/>
            <a:ext cx="4283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{ Hotel = City Hotel, Meal = SC -&gt; Room = A}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FBE1216-E70F-97F7-C1F4-FA18D60F6349}"/>
              </a:ext>
            </a:extLst>
          </p:cNvPr>
          <p:cNvSpPr txBox="1"/>
          <p:nvPr/>
        </p:nvSpPr>
        <p:spPr>
          <a:xfrm>
            <a:off x="10058759" y="1632568"/>
            <a:ext cx="45806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{ Hotel = Resort Hotel, Meal = BB -&gt; Room = E}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25989CE-EFAA-D090-D896-81A60FBA219F}"/>
              </a:ext>
            </a:extLst>
          </p:cNvPr>
          <p:cNvSpPr txBox="1"/>
          <p:nvPr/>
        </p:nvSpPr>
        <p:spPr>
          <a:xfrm>
            <a:off x="8014981" y="2920288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8. </a:t>
            </a:r>
            <a:r>
              <a:rPr lang="en-US" sz="1100" b="1" dirty="0" err="1"/>
              <a:t>Chuỗi</a:t>
            </a:r>
            <a:r>
              <a:rPr lang="en-US" sz="1100" b="1" dirty="0"/>
              <a:t> </a:t>
            </a:r>
            <a:r>
              <a:rPr lang="en-US" sz="1100" b="1" dirty="0" err="1"/>
              <a:t>thời</a:t>
            </a:r>
            <a:r>
              <a:rPr lang="en-US" sz="1100" b="1" dirty="0"/>
              <a:t> </a:t>
            </a:r>
            <a:r>
              <a:rPr lang="en-US" sz="1100" b="1" dirty="0" err="1"/>
              <a:t>gian</a:t>
            </a:r>
            <a:endParaRPr lang="en-US" sz="1100" b="1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22E927F-1B50-A170-A0D4-D1806078C12A}"/>
              </a:ext>
            </a:extLst>
          </p:cNvPr>
          <p:cNvSpPr txBox="1"/>
          <p:nvPr/>
        </p:nvSpPr>
        <p:spPr>
          <a:xfrm>
            <a:off x="10214966" y="1230484"/>
            <a:ext cx="198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5"/>
                </a:solidFill>
              </a:rPr>
              <a:t>2 </a:t>
            </a:r>
            <a:r>
              <a:rPr lang="en-US" sz="900" b="1" dirty="0" err="1">
                <a:solidFill>
                  <a:schemeClr val="accent5"/>
                </a:solidFill>
              </a:rPr>
              <a:t>trong</a:t>
            </a:r>
            <a:r>
              <a:rPr lang="en-US" sz="900" b="1" dirty="0">
                <a:solidFill>
                  <a:schemeClr val="accent5"/>
                </a:solidFill>
              </a:rPr>
              <a:t> 7 </a:t>
            </a:r>
            <a:r>
              <a:rPr lang="en-US" sz="900" b="1" dirty="0" err="1">
                <a:solidFill>
                  <a:schemeClr val="accent5"/>
                </a:solidFill>
              </a:rPr>
              <a:t>luật</a:t>
            </a:r>
            <a:r>
              <a:rPr lang="en-US" sz="900" b="1" dirty="0">
                <a:solidFill>
                  <a:schemeClr val="accent5"/>
                </a:solidFill>
              </a:rPr>
              <a:t> </a:t>
            </a:r>
            <a:r>
              <a:rPr lang="en-US" sz="900" b="1" dirty="0" err="1">
                <a:solidFill>
                  <a:schemeClr val="accent5"/>
                </a:solidFill>
              </a:rPr>
              <a:t>mạnh</a:t>
            </a:r>
            <a:r>
              <a:rPr lang="en-US" sz="900" b="1" dirty="0">
                <a:solidFill>
                  <a:schemeClr val="accent5"/>
                </a:solidFill>
              </a:rPr>
              <a:t>: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41FDC87E-43E1-38B3-836D-DD4E9EF810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08" y="3209830"/>
            <a:ext cx="2103120" cy="799476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3870F986-8CCB-7671-D231-2575BCEC7B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658" y="4110232"/>
            <a:ext cx="2194560" cy="1097280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C1B02BD4-2F34-D7CD-5E08-9B5F684C7234}"/>
              </a:ext>
            </a:extLst>
          </p:cNvPr>
          <p:cNvSpPr txBox="1"/>
          <p:nvPr/>
        </p:nvSpPr>
        <p:spPr>
          <a:xfrm>
            <a:off x="10311445" y="3623276"/>
            <a:ext cx="14142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800" i="1" dirty="0"/>
              <a:t>Nhu cầu đặt phòng có tính mùa vụ rõ rệt theo tháng và có thể dự báo trong ngắn hạn, nhưng mức độ bất định tăng nhanh theo thời gian.</a:t>
            </a:r>
            <a:endParaRPr lang="en-US" sz="800" dirty="0"/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CFC8DE3-A205-84F7-C44B-91F9AA8DD236}"/>
              </a:ext>
            </a:extLst>
          </p:cNvPr>
          <p:cNvCxnSpPr>
            <a:cxnSpLocks/>
            <a:endCxn id="146" idx="3"/>
          </p:cNvCxnSpPr>
          <p:nvPr/>
        </p:nvCxnSpPr>
        <p:spPr>
          <a:xfrm flipH="1">
            <a:off x="9999417" y="1043796"/>
            <a:ext cx="18230" cy="20072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B2BB8F67-75DD-57BA-628C-51B91A7A3E69}"/>
              </a:ext>
            </a:extLst>
          </p:cNvPr>
          <p:cNvSpPr txBox="1"/>
          <p:nvPr/>
        </p:nvSpPr>
        <p:spPr>
          <a:xfrm>
            <a:off x="7974169" y="5161815"/>
            <a:ext cx="1984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8. </a:t>
            </a:r>
            <a:r>
              <a:rPr lang="en-US" sz="1100" b="1" dirty="0" err="1"/>
              <a:t>Kết</a:t>
            </a:r>
            <a:r>
              <a:rPr lang="en-US" sz="1100" b="1" dirty="0"/>
              <a:t> </a:t>
            </a:r>
            <a:r>
              <a:rPr lang="en-US" sz="1100" b="1" dirty="0" err="1"/>
              <a:t>luận</a:t>
            </a:r>
            <a:endParaRPr lang="en-US" sz="1100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30ADF08-5229-A129-BF8D-CB616BF91731}"/>
              </a:ext>
            </a:extLst>
          </p:cNvPr>
          <p:cNvSpPr txBox="1"/>
          <p:nvPr/>
        </p:nvSpPr>
        <p:spPr>
          <a:xfrm>
            <a:off x="8053263" y="5434852"/>
            <a:ext cx="3726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latin typeface="Arial" panose="020B0604020202020204" pitchFamily="34" charset="0"/>
              </a:rPr>
              <a:t>Khai </a:t>
            </a:r>
            <a:r>
              <a:rPr lang="en-US" altLang="en-US" sz="800" dirty="0" err="1">
                <a:latin typeface="Arial" panose="020B0604020202020204" pitchFamily="34" charset="0"/>
              </a:rPr>
              <a:t>phá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dữ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liệu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giúp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b="1" dirty="0" err="1">
                <a:latin typeface="Arial" panose="020B0604020202020204" pitchFamily="34" charset="0"/>
              </a:rPr>
              <a:t>dự</a:t>
            </a:r>
            <a:r>
              <a:rPr lang="en-US" altLang="en-US" sz="800" b="1" dirty="0">
                <a:latin typeface="Arial" panose="020B0604020202020204" pitchFamily="34" charset="0"/>
              </a:rPr>
              <a:t> </a:t>
            </a:r>
            <a:r>
              <a:rPr lang="en-US" altLang="en-US" sz="800" b="1" dirty="0" err="1">
                <a:latin typeface="Arial" panose="020B0604020202020204" pitchFamily="34" charset="0"/>
              </a:rPr>
              <a:t>đoán</a:t>
            </a:r>
            <a:r>
              <a:rPr lang="en-US" altLang="en-US" sz="800" b="1" dirty="0">
                <a:latin typeface="Arial" panose="020B0604020202020204" pitchFamily="34" charset="0"/>
              </a:rPr>
              <a:t> – </a:t>
            </a:r>
            <a:r>
              <a:rPr lang="en-US" altLang="en-US" sz="800" b="1" dirty="0" err="1">
                <a:latin typeface="Arial" panose="020B0604020202020204" pitchFamily="34" charset="0"/>
              </a:rPr>
              <a:t>giải</a:t>
            </a:r>
            <a:r>
              <a:rPr lang="en-US" altLang="en-US" sz="800" b="1" dirty="0">
                <a:latin typeface="Arial" panose="020B0604020202020204" pitchFamily="34" charset="0"/>
              </a:rPr>
              <a:t> </a:t>
            </a:r>
            <a:r>
              <a:rPr lang="en-US" altLang="en-US" sz="800" b="1" dirty="0" err="1">
                <a:latin typeface="Arial" panose="020B0604020202020204" pitchFamily="34" charset="0"/>
              </a:rPr>
              <a:t>thích</a:t>
            </a:r>
            <a:r>
              <a:rPr lang="en-US" altLang="en-US" sz="800" b="1" dirty="0">
                <a:latin typeface="Arial" panose="020B0604020202020204" pitchFamily="34" charset="0"/>
              </a:rPr>
              <a:t> – </a:t>
            </a:r>
            <a:r>
              <a:rPr lang="en-US" altLang="en-US" sz="800" b="1" dirty="0" err="1">
                <a:latin typeface="Arial" panose="020B0604020202020204" pitchFamily="34" charset="0"/>
              </a:rPr>
              <a:t>hỗ</a:t>
            </a:r>
            <a:r>
              <a:rPr lang="en-US" altLang="en-US" sz="800" b="1" dirty="0">
                <a:latin typeface="Arial" panose="020B0604020202020204" pitchFamily="34" charset="0"/>
              </a:rPr>
              <a:t> </a:t>
            </a:r>
            <a:r>
              <a:rPr lang="en-US" altLang="en-US" sz="800" b="1" dirty="0" err="1">
                <a:latin typeface="Arial" panose="020B0604020202020204" pitchFamily="34" charset="0"/>
              </a:rPr>
              <a:t>trợ</a:t>
            </a:r>
            <a:r>
              <a:rPr lang="en-US" altLang="en-US" sz="800" b="1" dirty="0">
                <a:latin typeface="Arial" panose="020B0604020202020204" pitchFamily="34" charset="0"/>
              </a:rPr>
              <a:t> </a:t>
            </a:r>
            <a:r>
              <a:rPr lang="en-US" altLang="en-US" sz="800" b="1" dirty="0" err="1">
                <a:latin typeface="Arial" panose="020B0604020202020204" pitchFamily="34" charset="0"/>
              </a:rPr>
              <a:t>ra</a:t>
            </a:r>
            <a:r>
              <a:rPr lang="en-US" altLang="en-US" sz="800" b="1" dirty="0">
                <a:latin typeface="Arial" panose="020B0604020202020204" pitchFamily="34" charset="0"/>
              </a:rPr>
              <a:t> </a:t>
            </a:r>
            <a:r>
              <a:rPr lang="en-US" altLang="en-US" sz="800" b="1" dirty="0" err="1">
                <a:latin typeface="Arial" panose="020B0604020202020204" pitchFamily="34" charset="0"/>
              </a:rPr>
              <a:t>quyết</a:t>
            </a:r>
            <a:r>
              <a:rPr lang="en-US" altLang="en-US" sz="800" b="1" dirty="0">
                <a:latin typeface="Arial" panose="020B0604020202020204" pitchFamily="34" charset="0"/>
              </a:rPr>
              <a:t> </a:t>
            </a:r>
            <a:r>
              <a:rPr lang="en-US" altLang="en-US" sz="800" b="1" dirty="0" err="1">
                <a:latin typeface="Arial" panose="020B0604020202020204" pitchFamily="34" charset="0"/>
              </a:rPr>
              <a:t>định</a:t>
            </a:r>
            <a:endParaRPr lang="en-US" altLang="en-US" sz="8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latin typeface="Arial" panose="020B0604020202020204" pitchFamily="34" charset="0"/>
              </a:rPr>
              <a:t>Hiệu </a:t>
            </a:r>
            <a:r>
              <a:rPr lang="en-US" altLang="en-US" sz="800" dirty="0" err="1">
                <a:latin typeface="Arial" panose="020B0604020202020204" pitchFamily="34" charset="0"/>
              </a:rPr>
              <a:t>quả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hơn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phương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pháp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dựa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trên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kinh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nghiệm</a:t>
            </a:r>
            <a:endParaRPr lang="en-US" altLang="en-US" sz="800" dirty="0">
              <a:latin typeface="Arial" panose="020B060402020202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53A2C3A-6AEE-CCA3-7129-E580813A4EFF}"/>
              </a:ext>
            </a:extLst>
          </p:cNvPr>
          <p:cNvSpPr txBox="1"/>
          <p:nvPr/>
        </p:nvSpPr>
        <p:spPr>
          <a:xfrm>
            <a:off x="8053263" y="6377772"/>
            <a:ext cx="29372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Việc</a:t>
            </a:r>
            <a:r>
              <a:rPr lang="en-US" sz="800" dirty="0"/>
              <a:t> </a:t>
            </a:r>
            <a:r>
              <a:rPr lang="en-US" sz="800" dirty="0" err="1"/>
              <a:t>kết</a:t>
            </a:r>
            <a:r>
              <a:rPr lang="en-US" sz="800" dirty="0"/>
              <a:t> </a:t>
            </a:r>
            <a:r>
              <a:rPr lang="en-US" sz="800" dirty="0" err="1"/>
              <a:t>hợp</a:t>
            </a:r>
            <a:r>
              <a:rPr lang="en-US" sz="800" dirty="0"/>
              <a:t> </a:t>
            </a:r>
            <a:r>
              <a:rPr lang="en-US" sz="800" dirty="0" err="1"/>
              <a:t>nhiều</a:t>
            </a:r>
            <a:r>
              <a:rPr lang="en-US" sz="800" dirty="0"/>
              <a:t> </a:t>
            </a:r>
            <a:r>
              <a:rPr lang="en-US" sz="800" dirty="0" err="1"/>
              <a:t>kỹ</a:t>
            </a:r>
            <a:r>
              <a:rPr lang="en-US" sz="800" dirty="0"/>
              <a:t> </a:t>
            </a:r>
            <a:r>
              <a:rPr lang="en-US" sz="800" dirty="0" err="1"/>
              <a:t>thuật</a:t>
            </a:r>
            <a:r>
              <a:rPr lang="en-US" sz="800" dirty="0"/>
              <a:t> </a:t>
            </a:r>
            <a:r>
              <a:rPr lang="en-US" sz="800" dirty="0" err="1"/>
              <a:t>khai</a:t>
            </a:r>
            <a:r>
              <a:rPr lang="en-US" sz="800" dirty="0"/>
              <a:t> </a:t>
            </a:r>
            <a:r>
              <a:rPr lang="en-US" sz="800" dirty="0" err="1"/>
              <a:t>phá</a:t>
            </a:r>
            <a:r>
              <a:rPr lang="en-US" sz="800" dirty="0"/>
              <a:t> </a:t>
            </a:r>
            <a:r>
              <a:rPr lang="en-US" sz="800" dirty="0" err="1"/>
              <a:t>dữ</a:t>
            </a:r>
            <a:r>
              <a:rPr lang="en-US" sz="800" dirty="0"/>
              <a:t> </a:t>
            </a:r>
            <a:r>
              <a:rPr lang="en-US" sz="800" dirty="0" err="1"/>
              <a:t>liệu</a:t>
            </a:r>
            <a:r>
              <a:rPr lang="en-US" sz="800" dirty="0"/>
              <a:t> </a:t>
            </a:r>
            <a:r>
              <a:rPr lang="en-US" sz="800" dirty="0" err="1"/>
              <a:t>mang</a:t>
            </a:r>
            <a:r>
              <a:rPr lang="en-US" sz="800" dirty="0"/>
              <a:t> </a:t>
            </a:r>
            <a:r>
              <a:rPr lang="en-US" sz="800" dirty="0" err="1"/>
              <a:t>lại</a:t>
            </a:r>
            <a:r>
              <a:rPr lang="en-US" sz="800" dirty="0"/>
              <a:t> </a:t>
            </a:r>
            <a:r>
              <a:rPr lang="en-US" sz="800" dirty="0" err="1"/>
              <a:t>góc</a:t>
            </a:r>
            <a:r>
              <a:rPr lang="en-US" sz="800" dirty="0"/>
              <a:t> </a:t>
            </a:r>
            <a:r>
              <a:rPr lang="en-US" sz="800" dirty="0" err="1"/>
              <a:t>nhìn</a:t>
            </a:r>
            <a:r>
              <a:rPr lang="en-US" sz="800" dirty="0"/>
              <a:t> </a:t>
            </a:r>
            <a:r>
              <a:rPr lang="en-US" sz="800" dirty="0" err="1"/>
              <a:t>toàn</a:t>
            </a:r>
            <a:r>
              <a:rPr lang="en-US" sz="800" dirty="0"/>
              <a:t> </a:t>
            </a:r>
            <a:r>
              <a:rPr lang="en-US" sz="800" dirty="0" err="1"/>
              <a:t>diện</a:t>
            </a:r>
            <a:r>
              <a:rPr lang="en-US" sz="800" dirty="0"/>
              <a:t> </a:t>
            </a:r>
            <a:r>
              <a:rPr lang="en-US" sz="800" dirty="0" err="1"/>
              <a:t>và</a:t>
            </a:r>
            <a:r>
              <a:rPr lang="en-US" sz="800" dirty="0"/>
              <a:t> </a:t>
            </a:r>
            <a:r>
              <a:rPr lang="en-US" sz="800" dirty="0" err="1"/>
              <a:t>giá</a:t>
            </a:r>
            <a:r>
              <a:rPr lang="en-US" sz="800" dirty="0"/>
              <a:t> </a:t>
            </a:r>
            <a:r>
              <a:rPr lang="en-US" sz="800" dirty="0" err="1"/>
              <a:t>trị</a:t>
            </a:r>
            <a:r>
              <a:rPr lang="en-US" sz="800" dirty="0"/>
              <a:t> </a:t>
            </a:r>
            <a:r>
              <a:rPr lang="en-US" sz="800" dirty="0" err="1"/>
              <a:t>thực</a:t>
            </a:r>
            <a:r>
              <a:rPr lang="en-US" sz="800" dirty="0"/>
              <a:t> </a:t>
            </a:r>
            <a:r>
              <a:rPr lang="en-US" sz="800" dirty="0" err="1"/>
              <a:t>tiễn</a:t>
            </a:r>
            <a:r>
              <a:rPr lang="en-US" sz="800" dirty="0"/>
              <a:t> </a:t>
            </a:r>
            <a:r>
              <a:rPr lang="en-US" sz="800" dirty="0" err="1"/>
              <a:t>trong</a:t>
            </a:r>
            <a:r>
              <a:rPr lang="en-US" sz="800" dirty="0"/>
              <a:t> </a:t>
            </a:r>
            <a:r>
              <a:rPr lang="en-US" sz="800" dirty="0" err="1"/>
              <a:t>quản</a:t>
            </a:r>
            <a:r>
              <a:rPr lang="en-US" sz="800" dirty="0"/>
              <a:t> </a:t>
            </a:r>
            <a:r>
              <a:rPr lang="en-US" sz="800" dirty="0" err="1"/>
              <a:t>lý</a:t>
            </a:r>
            <a:r>
              <a:rPr lang="en-US" sz="800" dirty="0"/>
              <a:t> </a:t>
            </a:r>
            <a:r>
              <a:rPr lang="en-US" sz="800" dirty="0" err="1"/>
              <a:t>khách</a:t>
            </a:r>
            <a:r>
              <a:rPr lang="en-US" sz="800" dirty="0"/>
              <a:t> </a:t>
            </a:r>
            <a:r>
              <a:rPr lang="en-US" sz="800" dirty="0" err="1"/>
              <a:t>sạn</a:t>
            </a:r>
            <a:r>
              <a:rPr lang="en-US" sz="800" dirty="0"/>
              <a:t>.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ECB432F-DC1E-78E7-8DA4-77D878313DAF}"/>
              </a:ext>
            </a:extLst>
          </p:cNvPr>
          <p:cNvSpPr txBox="1"/>
          <p:nvPr/>
        </p:nvSpPr>
        <p:spPr>
          <a:xfrm>
            <a:off x="8043160" y="5829316"/>
            <a:ext cx="423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 err="1">
                <a:latin typeface="Arial" panose="020B0604020202020204" pitchFamily="34" charset="0"/>
              </a:rPr>
              <a:t>Giảm</a:t>
            </a:r>
            <a:r>
              <a:rPr lang="en-US" altLang="en-US" sz="800" dirty="0">
                <a:latin typeface="Arial" panose="020B0604020202020204" pitchFamily="34" charset="0"/>
              </a:rPr>
              <a:t> overbooking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 err="1">
                <a:latin typeface="Arial" panose="020B0604020202020204" pitchFamily="34" charset="0"/>
              </a:rPr>
              <a:t>Cá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nhân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hóa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giá</a:t>
            </a:r>
            <a:r>
              <a:rPr lang="en-US" altLang="en-US" sz="800" dirty="0">
                <a:latin typeface="Arial" panose="020B0604020202020204" pitchFamily="34" charset="0"/>
              </a:rPr>
              <a:t> &amp; </a:t>
            </a:r>
            <a:r>
              <a:rPr lang="en-US" altLang="en-US" sz="800" dirty="0" err="1">
                <a:latin typeface="Arial" panose="020B0604020202020204" pitchFamily="34" charset="0"/>
              </a:rPr>
              <a:t>khuyến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mãi</a:t>
            </a:r>
            <a:endParaRPr lang="en-US" altLang="en-US" sz="8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 err="1">
                <a:latin typeface="Arial" panose="020B0604020202020204" pitchFamily="34" charset="0"/>
              </a:rPr>
              <a:t>Thiết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kế</a:t>
            </a:r>
            <a:r>
              <a:rPr lang="en-US" altLang="en-US" sz="800" dirty="0">
                <a:latin typeface="Arial" panose="020B0604020202020204" pitchFamily="34" charset="0"/>
              </a:rPr>
              <a:t> combo </a:t>
            </a:r>
            <a:r>
              <a:rPr lang="en-US" altLang="en-US" sz="800" dirty="0" err="1">
                <a:latin typeface="Arial" panose="020B0604020202020204" pitchFamily="34" charset="0"/>
              </a:rPr>
              <a:t>dịch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vụ</a:t>
            </a:r>
            <a:endParaRPr lang="en-US" altLang="en-US" sz="8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 err="1">
                <a:latin typeface="Arial" panose="020B0604020202020204" pitchFamily="34" charset="0"/>
              </a:rPr>
              <a:t>Lập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kế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hoạch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vận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hành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theo</a:t>
            </a:r>
            <a:r>
              <a:rPr lang="en-US" altLang="en-US" sz="800" dirty="0">
                <a:latin typeface="Arial" panose="020B0604020202020204" pitchFamily="34" charset="0"/>
              </a:rPr>
              <a:t> </a:t>
            </a:r>
            <a:r>
              <a:rPr lang="en-US" altLang="en-US" sz="800" dirty="0" err="1">
                <a:latin typeface="Arial" panose="020B0604020202020204" pitchFamily="34" charset="0"/>
              </a:rPr>
              <a:t>mùa</a:t>
            </a:r>
            <a:endParaRPr lang="en-US" altLang="en-US" sz="800" dirty="0">
              <a:latin typeface="Arial" panose="020B0604020202020204" pitchFamily="34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8523591-3751-D46D-0F69-08022E2A21DA}"/>
              </a:ext>
            </a:extLst>
          </p:cNvPr>
          <p:cNvSpPr txBox="1"/>
          <p:nvPr/>
        </p:nvSpPr>
        <p:spPr>
          <a:xfrm>
            <a:off x="8033211" y="5677912"/>
            <a:ext cx="1984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solidFill>
                  <a:schemeClr val="accent5"/>
                </a:solidFill>
              </a:rPr>
              <a:t>Ưng</a:t>
            </a:r>
            <a:r>
              <a:rPr lang="en-US" sz="900" b="1" dirty="0">
                <a:solidFill>
                  <a:schemeClr val="accent5"/>
                </a:solidFill>
              </a:rPr>
              <a:t> </a:t>
            </a:r>
            <a:r>
              <a:rPr lang="en-US" sz="900" b="1" dirty="0" err="1">
                <a:solidFill>
                  <a:schemeClr val="accent5"/>
                </a:solidFill>
              </a:rPr>
              <a:t>dụng</a:t>
            </a:r>
            <a:r>
              <a:rPr lang="en-US" sz="900" b="1" dirty="0">
                <a:solidFill>
                  <a:schemeClr val="accent5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44089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2190</Words>
  <Application>Microsoft Office PowerPoint</Application>
  <PresentationFormat>Widescreen</PresentationFormat>
  <Paragraphs>283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ỨNG DỤNG CÁC KỸ THUẬT KHAI PHÁ DỮ LIỆU CHO BỘ DỮ LIỆU ĐẶT PHÒNG KHÁCH SẠN (HOTEL BOOKING DEMAND)</vt:lpstr>
      <vt:lpstr>NỘI DUNG TRÌNH BÀY</vt:lpstr>
      <vt:lpstr>1.   Vấn đề &amp; Mục tiêu</vt:lpstr>
      <vt:lpstr>Dữ liệu &amp; Khai phá ban đầu (EDA)</vt:lpstr>
      <vt:lpstr>Dữ liệu &amp; Khai phá ban đầu (EDA)</vt:lpstr>
      <vt:lpstr>3. Dự đoán khả năng hủy phòng – Phân loại (Classification)</vt:lpstr>
      <vt:lpstr>3. Dự đoán khả năng hủy phòng – Phân loại (Classification)</vt:lpstr>
      <vt:lpstr>3. Dự đoán khả năng hủy phòng – Phân loại (Classification)</vt:lpstr>
      <vt:lpstr>4. Hiểu khách hàng – Phân cụm &amp; Luật kết hợp</vt:lpstr>
      <vt:lpstr>4. Hiểu khách hàng – Phân cụm &amp; Luật kết hợp</vt:lpstr>
      <vt:lpstr>4. Hiểu khách hàng – Phân cụm &amp; Luật kết hợp</vt:lpstr>
      <vt:lpstr>5. Góc nhìn thời gian – Chuỗi thời gian </vt:lpstr>
      <vt:lpstr>6. Tổng hợp &amp; Ứng dụng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Tien Nguyen</dc:creator>
  <cp:lastModifiedBy>Tien Nguyen</cp:lastModifiedBy>
  <cp:revision>119</cp:revision>
  <dcterms:created xsi:type="dcterms:W3CDTF">2025-12-13T02:40:41Z</dcterms:created>
  <dcterms:modified xsi:type="dcterms:W3CDTF">2025-12-25T16:43:28Z</dcterms:modified>
</cp:coreProperties>
</file>